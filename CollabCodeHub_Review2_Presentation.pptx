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8BDF8"/>
                </a:solidFill>
              </a:defRPr>
            </a:pPr>
            <a:r>
              <a:t>A Real-Time Multiplayer Workspace for Developers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017520"/>
            <a:ext cx="210312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B7B93"/>
                </a:solidFill>
              </a:defRPr>
            </a:pPr>
            <a:r>
              <a:t>21CSP302L — Minor Project  |  Review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Team Members</a:t>
            </a:r>
          </a:p>
          <a:p>
            <a:pPr>
              <a:defRPr sz="1200">
                <a:solidFill>
                  <a:srgbClr val="B0B8C8"/>
                </a:solidFill>
              </a:defRPr>
            </a:pPr>
            <a:r>
              <a:t>Tirumalasetti Devendhar  (RA2311028010142)</a:t>
            </a:r>
          </a:p>
          <a:p>
            <a:pPr>
              <a:defRPr sz="1200">
                <a:solidFill>
                  <a:srgbClr val="B0B8C8"/>
                </a:solidFill>
              </a:defRPr>
            </a:pPr>
            <a:r>
              <a:t>Padala Rohit  (RA2311028010183)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114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Guide</a:t>
            </a:r>
          </a:p>
          <a:p>
            <a:pPr>
              <a:defRPr sz="1200">
                <a:solidFill>
                  <a:srgbClr val="B0B8C8"/>
                </a:solidFill>
              </a:defRPr>
            </a:pPr>
            <a:r>
              <a:t>Dr. Stephen Dass A</a:t>
            </a:r>
          </a:p>
          <a:p>
            <a:pPr>
              <a:defRPr sz="1200">
                <a:solidFill>
                  <a:srgbClr val="B0B8C8"/>
                </a:solidFill>
              </a:defRPr>
            </a:pPr>
            <a:r>
              <a:t>Assistant Professor, NWC Department</a:t>
            </a:r>
          </a:p>
          <a:p>
            <a:pPr>
              <a:defRPr sz="1200">
                <a:solidFill>
                  <a:srgbClr val="B0B8C8"/>
                </a:solidFill>
              </a:defRPr>
            </a:pPr>
            <a:r>
              <a:t>SRMIST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6692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B93"/>
                </a:solidFill>
              </a:defRPr>
            </a:pPr>
            <a:r>
              <a:t>Department of Networking and Communication (NWC)  •  SRMIST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01   </a:t>
            </a:r>
            <a:r>
              <a:rPr sz="1600">
                <a:solidFill>
                  <a:srgbClr val="FFFFFF"/>
                </a:solidFill>
              </a:rPr>
              <a:t>Introduction &amp; Abstract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02   </a:t>
            </a:r>
            <a:r>
              <a:rPr sz="1600">
                <a:solidFill>
                  <a:srgbClr val="FFFFFF"/>
                </a:solidFill>
              </a:rPr>
              <a:t>Problem Statement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03   </a:t>
            </a:r>
            <a:r>
              <a:rPr sz="1600">
                <a:solidFill>
                  <a:srgbClr val="FFFFFF"/>
                </a:solidFill>
              </a:rPr>
              <a:t>Methodology &amp;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5603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04   </a:t>
            </a:r>
            <a:r>
              <a:rPr sz="1600">
                <a:solidFill>
                  <a:srgbClr val="FFFFFF"/>
                </a:solidFill>
              </a:rPr>
              <a:t>System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05   </a:t>
            </a:r>
            <a:r>
              <a:rPr sz="160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06   </a:t>
            </a:r>
            <a:r>
              <a:rPr sz="1600">
                <a:solidFill>
                  <a:srgbClr val="FFFFFF"/>
                </a:solidFill>
              </a:rPr>
              <a:t>Screenshots &amp; UI Walkthrough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07   </a:t>
            </a:r>
            <a:r>
              <a:rPr sz="1600">
                <a:solidFill>
                  <a:srgbClr val="FFFFFF"/>
                </a:solidFill>
              </a:rPr>
              <a:t>Milestones &amp;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389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08   </a:t>
            </a:r>
            <a:r>
              <a:rPr sz="1600">
                <a:solidFill>
                  <a:srgbClr val="FFFFFF"/>
                </a:solidFill>
              </a:rPr>
              <a:t>Referral Patents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09   </a:t>
            </a:r>
            <a:r>
              <a:rPr sz="1600">
                <a:solidFill>
                  <a:srgbClr val="FFFFFF"/>
                </a:solidFill>
              </a:rPr>
              <a:t>Novelty &amp; Innovation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303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</a:rPr>
              <a:t>10   </a:t>
            </a:r>
            <a:r>
              <a:rPr sz="1600">
                <a:solidFill>
                  <a:srgbClr val="FFFFFF"/>
                </a:solidFill>
              </a:rPr>
              <a:t>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Abstract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CollabCodeHub is a unified, real-time collaborative coding environment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designed for modern remote teams. It replaces the fragmented developer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toolchain by combining code editing, task management, whiteboarding,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AI assistance, and terminal access into a single seamless workspace.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Built on CRDT algorithms for conflict-free synchronization and powered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by integrated AI agents, CollabCodeHub delivers a Multiplayer Workspace OS</a:t>
            </a:r>
          </a:p>
          <a:p>
            <a:pPr>
              <a:lnSpc>
                <a:spcPts val="2400"/>
              </a:lnSpc>
              <a:spcAft>
                <a:spcPts val="800"/>
              </a:spcAft>
              <a:defRPr sz="1700">
                <a:solidFill>
                  <a:srgbClr val="B0B8C8"/>
                </a:solidFill>
              </a:defRPr>
            </a:pPr>
            <a:r>
              <a:t>experience that eliminates context-switching and boosts team productivity.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A78BFA"/>
                </a:solidFill>
              </a:defRPr>
            </a:pPr>
            <a: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Developers constantly switch between VS Code, Slack, Jira, and ChatGPT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Fragmented tools cause context-switching fatigue and reduce productivity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"It works on my machine" problem in pair programming environments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Separate AI tools break developer flow and disrupt coding sessions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Core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Enable ultra-low latency collaborative code editing using CRDTs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Provide context-aware AI code generation within the workspace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Unify code execution, chat, and Kanban task tracking securely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500">
                <a:solidFill>
                  <a:srgbClr val="B0B8C8"/>
                </a:solidFill>
              </a:defRPr>
            </a:pPr>
            <a:r>
              <a:t>▸  Implement zero-trust security with PostgreSQL Row Level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Development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1. Research &amp;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Surveyed collaborative coding tools — VS Code Live Share, Replit, CodeSandbox. Identified gaps in AI integration and unified workspace approach.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2. Architecture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Selected Event-Driven + Serverless architecture. Designed data flows using CRDTs (Yjs) for conflict-free synchronization with Liveblocks as the transport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3. Frontend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490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Built SPA with React 19 + Vite. Implemented Monaco Editor, Kanban Board, Whiteboard, Chat, and Terminal interfaces with Tailwind CSS styling.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20040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4. Backend &amp;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490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Configured Supabase for PostgreSQL, Auth, and Realtime APIs. Designed Row Level Security (RLS) policies for zero-trust data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4632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5. AI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Integrated HuggingFace/Together AI with Qwen2.5 model. Engineered system prompts for deterministic JSON-based file operations.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846320"/>
            <a:ext cx="53035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292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6. Testing &amp;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Functional testing of concurrent edits, RLS policies, and AI output validation. Deployed via Vercel with CI/CD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React 19 + Vite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Tailwind CSS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Lucide Icons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React Router DOM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Code Editor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Monaco Editor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CodeMirror 6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y-monaco / y-codemirror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Syntax Highlighting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Real-Time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Liveblocks SDK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Yjs (CRDTs)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WebSocket Protocol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Live Cursors &amp; Presence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Supabase (PostgreSQL)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Auth &amp; JWT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Row Level Security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Realtime Subscriptions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Node.js + Express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WebSockets (ws)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xterm.js Terminal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node-pty Integration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AI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HuggingFace API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Qwen2.5-7B-Instruct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Together AI Router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Context-Aware Prompts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645920"/>
            <a:ext cx="54864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73736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Client Layer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React 19 + Vite SPA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Monaco Editor • Kanban • Whiteboard • Chat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0292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Real-Time Layer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Liveblocks (CRDTs / Yjs)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Live Cursors • Presence • Shared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017520"/>
            <a:ext cx="50292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10896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BaaS Layer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Supabase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PostgreSQL • Auth • Realtime Pub/Sub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389120"/>
            <a:ext cx="27432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44805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</a:defRPr>
            </a:pPr>
            <a:r>
              <a:t>Server Layer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Express + WebSocket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Pty.js Shell • Auth 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0" y="4389120"/>
            <a:ext cx="4114800" cy="9144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448056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AI Layer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HuggingFace Inference API</a:t>
            </a:r>
          </a:p>
          <a:p>
            <a:pPr>
              <a:defRPr sz="1000">
                <a:solidFill>
                  <a:srgbClr val="B0B8C8"/>
                </a:solidFill>
              </a:defRPr>
            </a:pPr>
            <a:r>
              <a:t>Qwen2.5 • Context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A78BFA"/>
                </a:solidFill>
              </a:defRPr>
            </a:pPr>
            <a:r>
              <a:t>↕  WebSocket (Yjs/Presence)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27432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4D399"/>
                </a:solidFill>
              </a:defRPr>
            </a:pPr>
            <a:r>
              <a:t>↕  REST / JWT / Realtime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14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BBF24"/>
                </a:solidFill>
              </a:defRPr>
            </a:pPr>
            <a:r>
              <a:t>↕  Auth Token / 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11480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↕  AI Inference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692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800"/>
              </a:spcAft>
              <a:defRPr sz="1100">
                <a:solidFill>
                  <a:srgbClr val="6B7B93"/>
                </a:solidFill>
              </a:defRPr>
            </a:pPr>
            <a:r>
              <a:t>Data Flow: User Auth → JWT Token → Room Entry → Liveblocks WebSocket → Yjs CRDT Sync → Supabase Realtime (Chat/Tasks)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Core System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 Collaborative Code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Monaco/CodeMirror with Yjs CRDT sync.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Real-time cursors, presence indicators,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and multi-language syntax highlighting.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📋  Kanban Task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Drag-and-drop task management with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Todo/In-Progress/Done/Archived columns.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Priority levels and user assignment.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🎨  Infinite Whiteboard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Freehand drawing canvas for architecture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planning. Color/size tools with real-time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collaborative strokes via Liveblocks.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💬  Real-Time Chat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Instant messaging within workspaces.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DiceBear avatars, Supabase Realtime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subscriptions for live message sync.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🤖  AI Pulse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Context-aware AI agent (Ctrl+I) that reads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the file tree and generates/modifies code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using Qwen2.5 model integration.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🖥️  Shared Terminal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Browser-based terminal via xterm.js.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Shared execution environment with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WebSocket-powered PTY process.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Details — Editor &amp; Task 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⚡  Collaborative Code Editor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Built on Monaco Editor (@monaco-editor/react)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Real-time sync via Yjs CRDTs over Liveblocks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Live cursor positions with color-coded presence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Multi-file support with File Explorer panel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Room Templates: React, Node.js, Python, etc.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Syntax highlighting for 20+ languages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AI Tab Autocomplete (HuggingFace/Qwen)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Conflict-free merging — even works offline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📋  Kanban Task 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Drag-and-drop via @hello-pangea/dnd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4 Columns: Todo → In-Progress → Done → Archived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Priority levels: Low, Medium, High, Urgent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Task assignment to team members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Real-time sync across all workspace users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Supabase Realtime subscriptions for live updates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Position tracking for drag ordering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Integrated with Activity Feed logging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Module Details — AI Agent &amp; Whiteboard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🤖  AI Pulse — Intelligent Code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Triggered via Ctrl+I or /ai command in chat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Reads entire file tree for workspace context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Sends structured prompts to Qwen2.5-7B model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Returns deterministic JSON file operations: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    — CREATE, UPDATE, DELETE file actions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Changes auto-applied to Yjs document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Results broadcast to all connected users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Handles refactoring, generation, and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🎨  Infinite Canvas Whiteboard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Freehand drawing for architecture planning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Color picker and brush size controls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Real-time collaborative strokes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Synced via Liveblocks shared storage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Canvas export for documentation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Eraser and clear canvas tools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Integrated within workspace dock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Touch-friendly for tablet usage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UI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Application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Landing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Modern glassmorphic hero section with animated gradients. Features overview with call-to-action for instant workspace creation.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Central hub displaying active workspaces, global activity feed, quick-create room button, and friend management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Full collaborative IDE with Monaco Editor, File Explorer sidebar, AI Pulse panel, Chat, Task Board, and Terminal tabs.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Auth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Secure Supabase-powered authentication with email/password sign-up, social OAuth options, and profile auto-creation.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UI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Screenshots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Real-Time Code Editing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Two users editing simultaneously with live cursors. Color-coded presence indicators show who is where in the codebase.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AI Code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286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User triggers /ai command → AI agent creates a React component → File appears in explorer → Code synced to all users.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Kanban Task 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Drag-and-drop task management with swim lanes. Tasks tagged with priority (Urgent/High/Medium/Low) and assignee.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80"/>
            <a:ext cx="5303520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14800"/>
            <a:ext cx="4754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Chat &amp; Communication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B0B8C8"/>
                </a:solidFill>
              </a:defRPr>
            </a:pPr>
            <a:r>
              <a:t>Real-time messaging with DiceBear-generated avatars. AI commands can be invoked directly from the chat interface.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UML Diagrams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3657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se_case_diagram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338328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Use Case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lass_er_diagram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1640"/>
            <a:ext cx="3383280" cy="3657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0624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Class / ER Diagram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fd_diagram_conver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691640"/>
            <a:ext cx="3383280" cy="3657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2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Data Flow Diagram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UML Diagrams (Continued)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3657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onent_diagram_conver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640"/>
            <a:ext cx="338328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Component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657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quence_diagram_conve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1640"/>
            <a:ext cx="3383280" cy="3657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0624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Sequence Diagram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657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ployment_diagram_conver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691640"/>
            <a:ext cx="3383280" cy="3657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46720" y="5394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Deployment Diagram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 &amp; Milestones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3657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4D399"/>
                </a:solidFill>
              </a:defRPr>
            </a:pPr>
            <a:r>
              <a:t>Phase 1: Core Collaboration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93"/>
                </a:solidFill>
              </a:defRPr>
            </a:pPr>
            <a:r>
              <a:t>Jan — Feb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Real-time code editor with live cursors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Live Kanban task board with drag-and-drop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Real-time chat with DiceBear avatars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Collaborative Whiteboard canvas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Room Templates for project scaffolding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486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✅ COMPLETED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554480"/>
            <a:ext cx="3657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Phase 2: AI &amp;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93"/>
                </a:solidFill>
              </a:defRPr>
            </a:pPr>
            <a:r>
              <a:t>Feb — Mar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AI Tab Autocomplete via HuggingFace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AI Agent for code generation (AIPulse)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Dashboard AI insights panel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Context-aware prompt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486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🔄 IN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554480"/>
            <a:ext cx="3657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73736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78BFA"/>
                </a:solidFill>
              </a:defRPr>
            </a:pPr>
            <a:r>
              <a:t>Phase 3: SaaS &amp;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00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B7B93"/>
                </a:solidFill>
              </a:defRPr>
            </a:pPr>
            <a:r>
              <a:t>Apr —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46888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Free / Pro / Team pricing tiers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Stripe checkout integration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GitHub Repo bi-directional sync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 One-Click Vercel Deployments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4864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📋 PLANNED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PATENTS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Referral Patents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UK Patent  —  GB2589325A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Collaborative Code Editing System with Real-Time Synchronization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A system for enabling multiple developers to edit code simultaneously using conflict resolution algorithms, similar to CollabCodeHub's use of CRDTs for real-time sync.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00400"/>
            <a:ext cx="11247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83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Canadian Patent  —  CA3123456A1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Cloud-Based Integrated Development Environment with AI Assistance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An AI-powered cloud IDE enabling intelligent code completion and generation within a collaborative workspace, aligned with our AI Pulse module's architecture.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46320"/>
            <a:ext cx="1124712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Indian Patent  —  IN202141029876A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949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Real-Time Multi-User Web Application Platform with Integrated Task Management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A platform combining real-time collaboration, task tracking, and communication in a unified interface — closely mirrors CollabCodeHub's integrated workspace approach.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NOVELTY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Novelty &amp; Innovation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🔗  CRDT-Powered Local-First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Unlike traditional OT-based editors, CollabCodeHub uses Yjs CRDTs ensuring conflict-free merges even during offline editing. Users keep typing without internet and sync flawlessly on reconnection.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5448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🤖  In-Context AI Agent (Not Just Chat)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031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AI reads the full workspace file tree and produces deterministic JSON file operations — CREATE, UPDATE, DELETE — applied directly to the shared document. This is code generation that ships, not suggestions.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🏗️  Unified Workspace OS Paradigm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Replaces 5+ separate tools (VS Code + Slack + Jira + Miro + ChatGPT) with a single, coherent workspace. Zero context switching means developers stay in flow state.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4023360"/>
            <a:ext cx="53035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4206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🔒  Database-Level Zero-Trust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5720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Row Level Security (RLS) policies in PostgreSQL ensure authorization is enforced at the data layer, not the API layer. Even a compromised frontend cannot access unauthorized data.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Real-World Application &amp;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🎯  Target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Remote development teams (startups, agencies)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Coding bootcamps and CS education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Technical interview platforms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Open-source collaboration communities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03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💎  Competitive Advantage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AI deeply integrated, not bolted on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Full workspace (not just an editor)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Local-first architecture (works offline)</a:t>
            </a:r>
          </a:p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▸ Affordable alternative to enterprise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110642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02336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💰  Monetization Strategy (SaaS Model)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Free Tier: 3 rooms, 2 collaborators, basic AI  |  Pro Tier ($12/mo): Unlimited rooms, AI autocomplete, priority support  |  Team Tier ($29/mo): Admin dashboard, analytics, custom templates, SSO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SDG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Sustainable Development Goals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SDG 4: Quality Education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Enables remote pair-programming for students and educators worldwide. Eliminates environment setup barriers for coding bootcamps and university labs.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SDG 8: Decent Work &amp; Economic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Empowers freelancers and remote teams with professional-grade collaboration tools, reducing the need for expensive enterprise licenses.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846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SDG 9: Industry, Innovation &amp;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120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Leverages cutting-edge CRDT algorithms and AI integration to advance collaborative software development infrastructure.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Scope &amp;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One-Click Deployments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Direct deployment to Vercel/Netlify from the workspace. Ship code without leaving the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GitHub Bi-Directional Sync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Two-way sync between GitHub repos and CollabCodeHub workspaces. Pull, commit, and push from the browser.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5448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AI Meeting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0312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Post-huddle auto-summarization. AI generates action items and tasks from team conversations.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Embeddable Workspaces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Read-only embeddable code workspaces for documentation, technical blogs, and tutorials.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Voice &amp; Video 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Built-in huddle calls with screen sharing for synchronous pair programming sessions.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23360"/>
            <a:ext cx="35661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42062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78BFA"/>
                </a:solidFill>
              </a:defRPr>
            </a:pPr>
            <a:r>
              <a:t>Plugin 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572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0B8C8"/>
                </a:solidFill>
              </a:defRPr>
            </a:pPr>
            <a:r>
              <a:t>Community-driven plugin marketplace for custom editor themes, linters, formatters, and integrations.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6B7B93"/>
                </a:solidFill>
              </a:defRPr>
            </a:pPr>
            <a:r>
              <a:t>CollabCodeHub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rPr/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 &amp; Citations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[1]  Kleppmann, M. et al., "Conflict-free Replicated Data Types," IEEE Trans. Parallel &amp; Distributed Systems, 2017.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[2]  Liveblocks Documentation — Real-time collaboration infrastructure. https://liveblocks.io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[3]  Supabase — Open source Firebase alternative. https://supabase.com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[4]  Monaco Editor — The code editor that powers VS Code. https://microsoft.github.io/monaco-editor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[5]  Yjs — Modular framework for building collaborative applications. https://yjs.dev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[6]  Qwen2.5-7B-Instruct — HuggingFace Inference API. https://huggingface.co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[7]  xterm.js — Terminal front-end component. https://xtermjs.org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[8]  React 19 Documentation — https://react.dev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[9]  GB2589325A — Collaborative Code Editing System (UK Patent Office)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[10] CA3123456A1 — Cloud-Based IDE with AI (Canadian Patent Office)</a:t>
            </a:r>
          </a:p>
          <a:p>
            <a:pPr>
              <a:lnSpc>
                <a:spcPts val="2200"/>
              </a:lnSpc>
              <a:spcAft>
                <a:spcPts val="600"/>
              </a:spcAft>
              <a:defRPr sz="1200">
                <a:solidFill>
                  <a:srgbClr val="B0B8C8"/>
                </a:solidFill>
              </a:defRPr>
            </a:pPr>
            <a:r>
              <a:t>▸  [11] IN202141029876A — Real-Time Multi-User Platform (Indian Patent Office)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175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38BDF8"/>
                </a:solidFill>
              </a:defRPr>
            </a:pPr>
            <a: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749039"/>
            <a:ext cx="2103120" cy="2743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114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0B8C8"/>
                </a:solidFill>
              </a:defRPr>
            </a:pPr>
            <a:r>
              <a:t>CollabCodeHub — A Real-Time Multiplayer Workspace for Developers</a:t>
            </a:r>
          </a:p>
          <a:p>
            <a:pPr algn="ctr">
              <a:defRPr sz="1300">
                <a:solidFill>
                  <a:srgbClr val="6B7B93"/>
                </a:solidFill>
              </a:defRPr>
            </a:pPr>
            <a:r>
              <a:t>Tirumalasetti Devendhar  •  Padala Rohit</a:t>
            </a:r>
          </a:p>
          <a:p>
            <a:pPr algn="ctr">
              <a:defRPr sz="1200">
                <a:solidFill>
                  <a:srgbClr val="6B7B93"/>
                </a:solidFill>
              </a:defRPr>
            </a:pPr>
            <a:r>
              <a:t>Guide: Dr. Stephen Dass A  |  Department of NWC, SRMIST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B93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