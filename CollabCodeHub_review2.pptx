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70" r:id="rId6"/>
    <p:sldId id="303" r:id="rId7"/>
    <p:sldId id="301" r:id="rId8"/>
    <p:sldId id="304" r:id="rId9"/>
    <p:sldId id="267" r:id="rId10"/>
    <p:sldId id="305" r:id="rId11"/>
    <p:sldId id="306" r:id="rId12"/>
    <p:sldId id="297" r:id="rId13"/>
    <p:sldId id="307" r:id="rId14"/>
    <p:sldId id="298" r:id="rId15"/>
    <p:sldId id="310" r:id="rId16"/>
    <p:sldId id="309" r:id="rId17"/>
    <p:sldId id="308" r:id="rId18"/>
    <p:sldId id="311" r:id="rId19"/>
    <p:sldId id="312" r:id="rId20"/>
    <p:sldId id="315" r:id="rId21"/>
    <p:sldId id="314" r:id="rId22"/>
    <p:sldId id="313" r:id="rId23"/>
    <p:sldId id="269" r:id="rId24"/>
    <p:sldId id="316" r:id="rId25"/>
    <p:sldId id="295" r:id="rId26"/>
    <p:sldId id="317" r:id="rId27"/>
    <p:sldId id="318" r:id="rId28"/>
    <p:sldId id="296" r:id="rId29"/>
    <p:sldId id="30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07" autoAdjust="0"/>
  </p:normalViewPr>
  <p:slideViewPr>
    <p:cSldViewPr showGuides="1">
      <p:cViewPr varScale="1">
        <p:scale>
          <a:sx n="110" d="100"/>
          <a:sy n="110" d="100"/>
        </p:scale>
        <p:origin x="1212" y="60"/>
      </p:cViewPr>
      <p:guideLst>
        <p:guide orient="horz" pos="213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13E10-6A68-4CCD-B28A-23FE89F338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CEBE5-E644-4274-AD26-CFB5B2CCE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27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0787-C5EF-4C76-9C08-9EAD159538D6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93B6-A260-444F-8DBF-4560BB7F7AB3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5794-514C-4A0B-A711-EAF99BEEDCE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2033-6BC3-4635-A488-76574AB7DFEA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32552-E807-409E-B5B6-3D6666F5A0DB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56BE-DA3D-4981-9743-1C3B578CA2AC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4A07-5127-4ADA-9C99-0F57C896F375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37F3-EBC9-4204-A48B-DCDC57359CAB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68C7-84C6-4A10-8762-6B4128CABDF4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29980-A174-4BA9-BF18-0E6CB45CD564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E7B6-24E1-4C72-8F09-25D77D6DAAD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CodeCollabHub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43D1F-53F8-40A8-9882-F41F2612C79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CodeCollabHub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E9C80-C75B-4B75-A6C5-E58A189951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pl-ai-file-upload.s3.amazonaws.com/patents/US11593098B2.pdf?response-content-disposition=inline%3B%20filename%3D%22US11593098B2.pdf%22&amp;response-content-type=application%2Fpdf&amp;AWSAccessKeyId=ASIA2F3EMEYERM5OXUK2&amp;Signature=IxoS%2FneCv4fyT87P5u6DgrKWKsU%3D&amp;x-amz-security-token=IQoJb3JpZ2luX2VjEEgaCXVzLWVhc3QtMSJIMEYCIQCv%2BtNtkvru3JYuzXKd%2Fj908s%2BY8mpMRnYiq7AE5jGs%2BgIhAKk7tLetOcPmnKSuEhxi4uCWfvVXD%2FaQ%2BSeYfRgma18TKvMECBAQARoMNjk5NzUzMzA5NzA1IgyE9OJP019Zjl0OOOMq0ASf5WrJYdxXqvw8V8AZrZPLIN5HKHBzwRLtM9ryADF0f6YYKf7qZ5H%2B1bH07PvdrYd0B57mUdUp7zsFjceGUI%2FSdIdkNUMq0SLsclxvo9SEEhKz4qXPGeOU3rD397U2PaSFG3af7NVA6OSq5ZhapzJJf8o3Sh2hN8bax4CFWmE7d%2Bz%2BDBxbr0WmUUf3UfarVFCWEZ2We8x3tO9t5SjEDCJwxqn%2FrGIO91dVuSHxOMBVBp3JC%2BvyKdopbAw1AMw3qmSjZ4pwuTFFOf6wLHlCfoO1DZiMWbBDurutrBwtpGnYt1NXD6wzU7Xo5%2B421bsDHHh1Z73NGKSirbmJwB%2B0h94e3EVOWLuiUwhKHb40Eo0h0I62TOOCq5p5EkEQrP0Pwe7vny5P9%2BsF61EdwUSOPCznLSCJWTzxOfE2fu8LEaCJgBugT%2FVDOOEl2Zs6QISHLm0xScs32koFltqR1NnZkj436lS9qKVPKFh9ZFkOlqmUOZJdOWSakpStxf5tNW5uvq54PsqO4VXauoDWMMRjsE69XXVLB4uHxXSTKof21eUm%2FxPuF4bru40qcZ%2BCcg6SR7m57eZyAJfId2wWRJF%2BpeG2WSSdlU097iQz2C5oUoQGJSXvK5kZUVpkyGatX3o2lB9vKs6wKamaTmm0PighbnPUyCUmQErO3iY%2B6KMx7fQj5vfsLWVUjOsz41ckRhFk7lk4k79ibNzXFpDKXwF3sDO%2Fs2UpBGfc3rFMouT5qMhtw%2BINGdOMuTzhZ9gRoSJ9VWTwGrAjLLv2RSyIXSyF1T3XMN2Apc4GOpcBsO06F21PPBi%2FAFoAoUvX0ULJZkqMY2qwHpuVPOZ1x72GZP7Xwp1CGZmSbSW%2Bw6af7Uxu2A4JrH8d8sGT4xT%2BkKJdQkDuB%2FSBt6n5qYAvMynikolURjHrKucHnGdrtcKA4oDLQjoO8cM5%2FbiZOWC2fObq3V%2BDWiezOwmfOdgifEPrj74aPhWKGUkWjhYFS1PHDJFKQOtvCQ%3D%3D&amp;Expires=1774801513" TargetMode="External"/><Relationship Id="rId7" Type="http://schemas.openxmlformats.org/officeDocument/2006/relationships/image" Target="../media/image1.jpeg"/><Relationship Id="rId2" Type="http://schemas.openxmlformats.org/officeDocument/2006/relationships/hyperlink" Target="https://www.perplexity.ai/rest/file-repository/patents/EP4506832A1?lens_id=165-878-723-793-36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pl-ai-file-upload.s3.amazonaws.com/patents/US20240143288A1.pdf?response-content-disposition=inline%3B%20filename%3D%22US20240143288A1.pdf%22&amp;response-content-type=application%2Fpdf&amp;AWSAccessKeyId=ASIA2F3EMEYETXX26J2J&amp;Signature=nIF%2Bp%2FBVlspZsg19coaqrQ3Gt7E%3D&amp;x-amz-security-token=IQoJb3JpZ2luX2VjEEgaCXVzLWVhc3QtMSJHMEUCIEh1emCq315tIq4LepJnUKXXOfG9U4FCOpPzxzWclQabAiEA1ScfaeqnFhlkFKeNgCwoNLu35IhjowpBPv2lBbHGjgMq8wQIEBABGgw2OTk3NTMzMDk3MDUiDMhCn4F%2BavO%2FHnyHvCrQBOJPRETRBKzJ4BrQ5gFMoXcXwHZdAh3qNdM2MsTPNurvG4DP63sBEuiSQFyk7pC%2FV1n5AvuqxBO6cop24Yf8Muxrkm0YYfFDrPO6JVXVgr6kNUJL%2F10RI2RpqmewwEXAWrCdjT1EjQqZoQebrv6P0tlx6lo3pBugmQSWsDwlNOvsKsb6JK4CCQlVswfZTuOSEZchGDFPR9Xv1ASXdsWX8umqru72AX%2F8SnlYYp%2FYhptsLAnPkJC1oBg3%2BMDnxdDrJX6LNCyjXOkVrYd4pPPe4hygvhHhwIsS1%2FrgUP5QkHiPVywdjsQsBhFVKLC%2BieldVuLwn5VaLXDSaWvcMq41YR6jcXOXXJcwS4QJHlGCVUwDjsMEdbmNmvfhu%2FEC%2FB%2Fpf6wk0tYmSAgSfoAuMhYHRvI8k4uYJZj5980H8E7e5DEEW%2BHUBPtVehhkcPiZmL6Wpf9nQlZnFRyNUGkv5VwkSX2r0DJk54K4REXlE%2FObZ0JFMEdxqLihcWX6xsVGeWUj3jEZVbdwzXyXcyQklSqG29U5iyaVh9XgIld%2B%2FiozRl%2BtoLBXGmPY%2BbCwscO8a48HkYv55XliC03Dj2vfCVGzfxFH5NxPrLLXW0qbqlIgEqXzSeTkL0OrED8g%2BaZt6gqrX9ZxYW8wBvDOKl8cXqvum8qkUKXFvYhHULR11whTNPvSsnp0ApNZJh0NRb0rVelK8%2FQ1yKW7WUNYqwvP6M2d5z1UeJvacdqa82qmrg8HaFLMnVAPyZQRRt%2BG38MIe9GJGRegpVo0u7yKp%2F%2FV%2Fi26ZVwwuYWlzgY6mAFOmc2ABEiSsESh2KSswDQ4CNV2Ri%2BlfiEse02W9JArBPK5nMeYlhPLqmyUo1mBxqNt7hLYNPfvsjtcPzMUQGkdNHR1eXJ7978kRHu8u%2F7doby4rXlhx%2F9YWiXmdIIsTn7bFKdHg281v3uixVIj4isK8Z9kTASfJa22Ji%2FjyveBq3G5ZaRJ7deoF2M3vo5WsOp1fsSTmYnWaQ%3D%3D&amp;Expires=1774801698" TargetMode="External"/><Relationship Id="rId5" Type="http://schemas.openxmlformats.org/officeDocument/2006/relationships/hyperlink" Target="https://ppl-ai-file-upload.s3.amazonaws.com/patents/US12541345B2.pdf?response-content-disposition=inline%3B%20filename%3D%22US12541345B2.pdf%22&amp;response-content-type=application%2Fpdf&amp;AWSAccessKeyId=ASIA2F3EMEYEYH3OK3H3&amp;Signature=4CIjxOXWdy7CEqja6TgviZ3xRh8%3D&amp;x-amz-security-token=IQoJb3JpZ2luX2VjEEcaCXVzLWVhc3QtMSJIMEYCIQC63oi%2BfIKnZqPu9cy3w%2B8oSZTUdIi7NU4i94Iesza89wIhAOi3Gs%2F5GHn4RSdK0ByjAOM4kYK6OOEwq60pzrjx48FyKvMECBAQARoMNjk5NzUzMzA5NzA1IgxPLkZNHC5jcSEvpj8q0AQza3T4T7QZs4ZMQzgzEtQPHFl15A%2Flv8IayxkbzykrsFEsFmYfBj3p5lA5XNblmpkRb3ahnujrlfC5R2WB5zCkeKN0WpwAEYDKDoloaEJzNl68%2BKniaEGkWnCIfBA2puLV490eHLkm9wygn6TP4l%2F6RZQYkdajIdkf9mUl%2F%2FY%2FUgb6og5gzo1r83%2Fma1110zQscrlnfMvYVovcAfCfWIMnrfjQpxF%2B6oik9YQ8DLSy0LHtKLfi%2BQWMtVehy%2BXgVJelUK8oCzx0N%2FKqXwZPMib7GwBiFoxt8FEPcO4CxK%2BJ2aav0tQ4LApHXlejgxmIKLYpnikoMbUD3b3RK%2BYDHM8onRvBU%2FsCSnHFDX0Dm50tEQXWSrPeKPzSsVkNf2VkWeYlF20hPQcyJM9oU8bxRC0qJgf6KZNC%2Bzqf60hvyNk81yz1A0mrUqE%2Ff9QkU2KwBCdCxR75A%2FmFWWyLnXfwDNkrCX0iHD8KwJuNC0il8IbcYqyqpnEpIED0WC1j8L1S0rRVlZydsV6mRG4lo78jbNBVbMm1bG0%2Fx6jDYMVa47vZsFIMtLYEoDU93t2iKhh9opZdeeNMgy%2BU%2BWJB9WHEcYqg33WKzEMurwQxjE23e3WZFd0Vr%2BN9vLQ8uKvLGrr04CDmE4d%2BF3EcO7gns8M0lwEFMHqW3%2FXKUVJHwdqqURNUXS9NcqDBl5%2BrhKvgI7Ve%2BhymuH66%2B9idf6CGGNIe0WZ0JCI2yfiuFJIy2a6YXGGwgHA9iq654OkKk%2FwLsL%2Bv1NVK9XpXZ9fnqe6JSz13yTapMLz2pM4GOpcBjsua%2Bv7dz%2BhgWoX%2BO3DuQlemaagrOOCQOXFhza5gVxIkVPzZvlxVGNXLZd9t9ShQV8EAMvXhEgjNNyuy7lYLaP0Hn9idjlmj72bp8F%2F%2FDTxRgoce7eqYpvGvIL2eEsIBQPmg8KhThsmeuRwmM8bDg2u2sI8bZf%2BoriaSAIoI5Y6SS3Lj%2BY1Ek5agBrl9c5YeHtStZDWEKg%3D%3D&amp;Expires=1774801657" TargetMode="External"/><Relationship Id="rId4" Type="http://schemas.openxmlformats.org/officeDocument/2006/relationships/hyperlink" Target="https://ppl-ai-file-upload.s3.amazonaws.com/patents/WO2022015773A1.pdf?response-content-disposition=inline%3B%20filename%3D%22WO2022015773A1.pdf%22&amp;response-content-type=application%2Fpdf&amp;AWSAccessKeyId=ASIA2F3EMEYEX643KWNK&amp;Signature=xpwrK6f%2FxuPS%2BTMUuVJp6%2BRjCys%3D&amp;x-amz-security-token=IQoJb3JpZ2luX2VjEEcaCXVzLWVhc3QtMSJGMEQCIF2MQreSlPzXuHNmsN64vthKULZfWsa6K0gtNRRcpKMLAiB671UMnmDfJdsiU%2FBNtxLDCUSdSnq5CHhvszUl%2FDVEQirzBAgQEAEaDDY5OTc1MzMwOTcwNSIMhgsGZ%2F6bUg5aCg5vKtAEvSeo1uW12asMeeGjeiVMEN0%2BM2KPagw4iufrQYKrZ1N0Ae9lszDGhQ3zDpYgIvWoqNtr3tBD7Qw%2ByCjtTa%2FHVtsP41M52XFIjJcIiZs2NCcC0AfXOBhUXMJ8PDqU8%2Fiq%2BJh0Sn8vGyAHezkfemilYSmfNtu8n%2BCA0EMXbr6kVuur59u%2BxOK%2B2%2B78Pp%2F3bXIr9KEAoV4iP3KhscKqfowZ90Cj1nyg83yH8N0VMBp1MIGdNwdqj%2BZnsXHKprWhw4g36Lq0WDrHZ%2FWmu1CWRc%2FjVZmqpp6LnAGB0tQEXo5gApYuc%2BKO6xQdrRHDpOAymI%2Fne6Ea0ggW7aO4buHtbKsVkqPk91Q%2F0IpjF6FMJWsdKv5aVtJ%2BF21nh0qbFnspTtiAklgpD3%2Fwq1Wz3%2B42VWaBv9aqULFtuFSnlZ8AeeNP2E039jHrAdMmfYDFNgnRSiDLbE6k6sLm8C9m55Bcuu%2FDuwSJ1Cwh2S%2BJQgTwQN%2F3kIyF40Dn6B2rw4ql58YXPM05cZ4WdJqip5CMcZzJo6Z30FnloGdycbBlcsP3kekvwurAJfFHACCymOcPZCOl7%2BaHBNMPC4YZDxE2LWCdGMJEhhYDrAbeOy3HmIdOgn6ZL%2BT2zIaw%2FHNklTlLWXiRYgU3nJvZWlJKSwOJZsviCVJXvKE4MfPQ%2FB%2FKs%2FII4QfuDe9vX0qkEM5kkHCmVo2Qbd4SqmLzp8jJkBQ7ulfE%2BimNJQz%2FNXw0cQOenV7dOsMhLXRX2LBjAoNl0gupOquUltoDbpn5eRvmsRf36uvSkWvIAjCH%2B6TOBjqZAX2LtSAxn1oz%2FMvUmazO%2Bq8HuS1khXqP7TP1Iqtl0sVbXprqAbSe9%2FwVrJiIL%2FSJdG309rlf%2FFrY3CSnLIlnEX7NKrcMX%2FKhe%2FR4K4%2BXoMcpPg7aJRcdC2iN8Sno3XGvjJAobxmKq5bWgx9TX8xuWF5p5M%2BsVCKE9E0efc7vFqquHliAO6O%2FGNGTQAZCOh%2FCFcpwIRV6Fq80WQ%3D%3D&amp;Expires=1774801616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2121977"/>
            <a:ext cx="7772400" cy="1470025"/>
          </a:xfrm>
        </p:spPr>
        <p:txBody>
          <a:bodyPr>
            <a:normAutofit/>
          </a:bodyPr>
          <a:lstStyle/>
          <a:p>
            <a:r>
              <a:rPr lang="en-IN" b="1" dirty="0" err="1"/>
              <a:t>CollabCodeHub</a:t>
            </a:r>
            <a:endParaRPr lang="en-US" b="1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68910" y="4191000"/>
            <a:ext cx="5148580" cy="1828800"/>
          </a:xfrm>
        </p:spPr>
        <p:txBody>
          <a:bodyPr>
            <a:normAutofit/>
          </a:bodyPr>
          <a:lstStyle/>
          <a:p>
            <a:pPr marL="1905" indent="-344805" algn="l" defTabSz="449580">
              <a:spcAft>
                <a:spcPct val="0"/>
              </a:spcAft>
              <a:buSzPct val="10000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</a:tabLst>
            </a:pPr>
            <a:r>
              <a:rPr lang="en-IN" altLang="x-none" sz="2000" b="1" dirty="0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Team Members :-</a:t>
            </a:r>
            <a:endParaRPr lang="en-IN" altLang="en-IN" sz="2000" dirty="0">
              <a:solidFill>
                <a:srgbClr val="000000"/>
              </a:solidFill>
              <a:latin typeface="+mj-lt"/>
              <a:ea typeface="DejaVu Sans" charset="0"/>
              <a:sym typeface="+mn-ea"/>
            </a:endParaRPr>
          </a:p>
          <a:p>
            <a:pPr marL="1905" indent="-344805" algn="l" defTabSz="449580">
              <a:spcAft>
                <a:spcPct val="0"/>
              </a:spcAft>
              <a:buSzPct val="10000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</a:tabLst>
            </a:pPr>
            <a:r>
              <a:rPr lang="en-IN" altLang="en-IN" sz="1800" dirty="0" err="1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Tirumalasetti</a:t>
            </a:r>
            <a:r>
              <a:rPr lang="en-IN" altLang="en-IN" sz="1800" dirty="0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 </a:t>
            </a:r>
            <a:r>
              <a:rPr lang="en-IN" altLang="en-IN" sz="1800" dirty="0" err="1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Devendhar</a:t>
            </a:r>
            <a:r>
              <a:rPr lang="en-IN" altLang="en-IN" sz="1800" dirty="0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 (RA2311028010142)</a:t>
            </a:r>
          </a:p>
          <a:p>
            <a:pPr marL="1905" indent="-344805" algn="l" defTabSz="449580">
              <a:spcAft>
                <a:spcPct val="0"/>
              </a:spcAft>
              <a:buSzPct val="10000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</a:tabLst>
            </a:pPr>
            <a:r>
              <a:rPr lang="en-IN" altLang="en-IN" sz="1800" dirty="0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Padala Rohit (RA2311028010183)</a:t>
            </a:r>
          </a:p>
          <a:p>
            <a:pPr marL="1905" indent="-344805" algn="l" defTabSz="449580">
              <a:spcAft>
                <a:spcPct val="0"/>
              </a:spcAft>
              <a:buSzPct val="10000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</a:tabLst>
            </a:pPr>
            <a:r>
              <a:rPr lang="en-IN" altLang="en-IN" sz="2000" b="1" dirty="0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Department : </a:t>
            </a:r>
            <a:r>
              <a:rPr lang="en-IN" altLang="en-IN" sz="2000" dirty="0">
                <a:solidFill>
                  <a:srgbClr val="000000"/>
                </a:solidFill>
                <a:latin typeface="+mj-lt"/>
                <a:ea typeface="DejaVu Sans" charset="0"/>
                <a:sym typeface="+mn-ea"/>
              </a:rPr>
              <a:t>NWC</a:t>
            </a:r>
            <a:endParaRPr lang="en-US" altLang="en-IN" sz="2000" dirty="0" err="1">
              <a:solidFill>
                <a:srgbClr val="000000"/>
              </a:solidFill>
              <a:latin typeface="+mj-lt"/>
              <a:ea typeface="DejaVu Sans" charset="0"/>
              <a:sym typeface="+mn-ea"/>
            </a:endParaRPr>
          </a:p>
        </p:txBody>
      </p:sp>
      <p:pic>
        <p:nvPicPr>
          <p:cNvPr id="8" name="image2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53353"/>
            <a:ext cx="2237740" cy="755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FFA748-D81D-A95F-268E-E32554D0B783}"/>
              </a:ext>
            </a:extLst>
          </p:cNvPr>
          <p:cNvSpPr txBox="1"/>
          <p:nvPr/>
        </p:nvSpPr>
        <p:spPr>
          <a:xfrm>
            <a:off x="2819400" y="553352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  <a:cs typeface="Times New Roman" panose="02020603050405020304" pitchFamily="18" charset="0"/>
              </a:rPr>
              <a:t>21CSP302L – Minor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6BD99-C778-54C4-E313-80F90FCA710D}"/>
              </a:ext>
            </a:extLst>
          </p:cNvPr>
          <p:cNvSpPr txBox="1"/>
          <p:nvPr/>
        </p:nvSpPr>
        <p:spPr>
          <a:xfrm>
            <a:off x="3733800" y="1015017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  <a:cs typeface="Times New Roman" panose="02020603050405020304" pitchFamily="18" charset="0"/>
              </a:rPr>
              <a:t>REVIEW - 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06E27-3EDC-A5D3-19D7-C26C80229785}"/>
              </a:ext>
            </a:extLst>
          </p:cNvPr>
          <p:cNvSpPr txBox="1"/>
          <p:nvPr/>
        </p:nvSpPr>
        <p:spPr>
          <a:xfrm>
            <a:off x="5181600" y="4191000"/>
            <a:ext cx="373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IN" b="1" dirty="0">
                <a:solidFill>
                  <a:srgbClr val="000000"/>
                </a:solidFill>
                <a:latin typeface="+mj-lt"/>
                <a:ea typeface="DejaVu Sans" charset="0"/>
                <a:cs typeface="Times New Roman" panose="02020603050405020304" pitchFamily="18" charset="0"/>
                <a:sym typeface="+mn-ea"/>
              </a:rPr>
              <a:t>Guide Details:</a:t>
            </a:r>
          </a:p>
          <a:p>
            <a:r>
              <a:rPr lang="en-IN" altLang="en-IN" dirty="0">
                <a:solidFill>
                  <a:srgbClr val="000000"/>
                </a:solidFill>
                <a:latin typeface="+mj-lt"/>
                <a:ea typeface="DejaVu Sans" charset="0"/>
                <a:cs typeface="Times New Roman" panose="02020603050405020304" pitchFamily="18" charset="0"/>
                <a:sym typeface="+mn-ea"/>
              </a:rPr>
              <a:t>Dr .Stephen Dass A</a:t>
            </a:r>
            <a:endParaRPr lang="en-US" altLang="en-IN" dirty="0">
              <a:solidFill>
                <a:srgbClr val="000000"/>
              </a:solidFill>
              <a:latin typeface="+mj-lt"/>
              <a:ea typeface="DejaVu Sans" charset="0"/>
              <a:cs typeface="Times New Roman" panose="02020603050405020304" pitchFamily="18" charset="0"/>
              <a:sym typeface="+mn-ea"/>
            </a:endParaRPr>
          </a:p>
          <a:p>
            <a:r>
              <a:rPr lang="en-IN" dirty="0" err="1">
                <a:latin typeface="+mj-lt"/>
                <a:cs typeface="Times New Roman" panose="02020603050405020304" pitchFamily="18" charset="0"/>
              </a:rPr>
              <a:t>Assitant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 Professor ,</a:t>
            </a: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Networking and Communication Department (NWC),</a:t>
            </a: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SRMIST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DCDDF17A-A331-907F-F849-F04FE182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0A1983-15D2-768E-0BC4-33ECCE2A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11284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cs typeface="Times New Roman" panose="02020603050405020304" pitchFamily="18" charset="0"/>
              </a:rPr>
              <a:t>Table of Contents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                       </a:t>
            </a:r>
          </a:p>
          <a:p>
            <a:pPr lvl="0"/>
            <a:r>
              <a:rPr lang="en-IN" sz="2000" dirty="0"/>
              <a:t>Introduction &amp; Abstract</a:t>
            </a:r>
            <a:endParaRPr lang="en-US" sz="2000" dirty="0"/>
          </a:p>
          <a:p>
            <a:pPr lvl="0"/>
            <a:r>
              <a:rPr lang="en-IN" sz="2000" dirty="0"/>
              <a:t>Problem Statement &amp; Objectives</a:t>
            </a:r>
            <a:endParaRPr lang="en-US" sz="2000" dirty="0"/>
          </a:p>
          <a:p>
            <a:pPr lvl="0"/>
            <a:r>
              <a:rPr lang="en-IN" sz="2000" dirty="0"/>
              <a:t>Methodology &amp; Architecture</a:t>
            </a:r>
            <a:endParaRPr lang="en-US" sz="2000" dirty="0"/>
          </a:p>
          <a:p>
            <a:pPr lvl="0"/>
            <a:r>
              <a:rPr lang="en-IN" sz="2000" dirty="0"/>
              <a:t>System Modules</a:t>
            </a:r>
            <a:endParaRPr lang="en-US" sz="2000" dirty="0"/>
          </a:p>
          <a:p>
            <a:pPr lvl="0"/>
            <a:r>
              <a:rPr lang="en-IN" sz="2000" dirty="0"/>
              <a:t>Technology Stack</a:t>
            </a:r>
            <a:endParaRPr lang="en-US" sz="2000" dirty="0"/>
          </a:p>
          <a:p>
            <a:pPr lvl="0"/>
            <a:r>
              <a:rPr lang="en-IN" sz="2000" dirty="0"/>
              <a:t>Screenshots &amp; UI Walkthrough</a:t>
            </a:r>
            <a:endParaRPr lang="en-US" sz="2000" dirty="0"/>
          </a:p>
          <a:p>
            <a:pPr lvl="0"/>
            <a:r>
              <a:rPr lang="en-IN" sz="2000" dirty="0"/>
              <a:t>Milestones &amp; Timeline</a:t>
            </a:r>
            <a:endParaRPr lang="en-US" sz="2000" dirty="0"/>
          </a:p>
          <a:p>
            <a:pPr lvl="0"/>
            <a:r>
              <a:rPr lang="en-IN" sz="2000" dirty="0"/>
              <a:t>Referral Patents</a:t>
            </a:r>
            <a:r>
              <a:rPr lang="en-US" sz="2000" dirty="0"/>
              <a:t> </a:t>
            </a:r>
          </a:p>
          <a:p>
            <a:pPr lvl="0"/>
            <a:r>
              <a:rPr lang="en-IN" sz="2000" dirty="0"/>
              <a:t>Novelty &amp; Innovation</a:t>
            </a:r>
            <a:endParaRPr lang="en-US" sz="2000" dirty="0"/>
          </a:p>
          <a:p>
            <a:pPr lvl="0"/>
            <a:r>
              <a:rPr lang="en-IN" sz="2000" dirty="0"/>
              <a:t>Future Scope &amp; Conclusion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image2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53353"/>
            <a:ext cx="2237740" cy="755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52BB8-1E38-4190-CE93-71B64781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A80DD5E3-1921-F9DC-20C2-08598E897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468"/>
            <a:ext cx="8229600" cy="760095"/>
          </a:xfrm>
        </p:spPr>
        <p:txBody>
          <a:bodyPr>
            <a:noAutofit/>
          </a:bodyPr>
          <a:lstStyle/>
          <a:p>
            <a:r>
              <a:rPr lang="en-IN" altLang="x-none" sz="3200" b="1" dirty="0">
                <a:cs typeface="Times New Roman" panose="02020603050405020304" pitchFamily="18" charset="0"/>
                <a:sym typeface="+mn-ea"/>
              </a:rPr>
              <a:t>Abstract</a:t>
            </a:r>
            <a:endParaRPr lang="en-US" sz="3200" dirty="0"/>
          </a:p>
        </p:txBody>
      </p:sp>
      <p:pic>
        <p:nvPicPr>
          <p:cNvPr id="4" name="image2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04657"/>
            <a:ext cx="1524000" cy="55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BBCFA-DBE8-D297-E2BA-11150407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3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B1C4A4E9-077F-580B-15CD-B821807E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D67803E-9B76-7001-61EA-03D064D44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100" y="2106637"/>
            <a:ext cx="730199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CollabCodeHub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lang="en-US" sz="1800" dirty="0"/>
              <a:t>unified, real-time collaborative coding environment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All-in-one workspace (code, tasks, whiteboard, AI, terminal)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for modern remote teams.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Powered by CRDT (conflict-free sync).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integrated AI agents.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context switching.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Boosts team productivity &amp;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086" y="593090"/>
            <a:ext cx="7505700" cy="6096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cs typeface="Times New Roman" panose="02020603050405020304" pitchFamily="18" charset="0"/>
                <a:sym typeface="+mn-ea"/>
              </a:rPr>
              <a:t>Problem Statement &amp;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86205"/>
            <a:ext cx="7848600" cy="47866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The Problem</a:t>
            </a:r>
            <a:endParaRPr lang="en-US" sz="2000" b="1" dirty="0"/>
          </a:p>
          <a:p>
            <a:r>
              <a:rPr lang="en-US" sz="2000" dirty="0"/>
              <a:t> Frequent tool switching (VS Code, Slack, Jira, ChatGPT)</a:t>
            </a:r>
          </a:p>
          <a:p>
            <a:r>
              <a:rPr lang="en-US" sz="2000" dirty="0"/>
              <a:t>Fragmented workflows reduce productivity</a:t>
            </a:r>
          </a:p>
          <a:p>
            <a:r>
              <a:rPr lang="en-US" sz="2000" dirty="0"/>
              <a:t>“Works on my machine” issues in collaboration</a:t>
            </a:r>
          </a:p>
          <a:p>
            <a:r>
              <a:rPr lang="en-US" sz="2000" dirty="0"/>
              <a:t>Separate AI tools break developer flow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Core Objectives</a:t>
            </a:r>
            <a:r>
              <a:rPr lang="en-US" sz="2000" dirty="0"/>
              <a:t>	</a:t>
            </a:r>
          </a:p>
          <a:p>
            <a:r>
              <a:rPr lang="en-US" sz="2000" dirty="0"/>
              <a:t>Enable real-time collaborative coding (CRDT-based)</a:t>
            </a:r>
          </a:p>
          <a:p>
            <a:r>
              <a:rPr lang="en-IN" sz="2000" dirty="0"/>
              <a:t>Provide context-aware AI inside workspace</a:t>
            </a:r>
          </a:p>
          <a:p>
            <a:r>
              <a:rPr lang="en-US" sz="2000" dirty="0"/>
              <a:t>Unify code, chat, and task management</a:t>
            </a:r>
          </a:p>
          <a:p>
            <a:r>
              <a:rPr lang="en-IN" sz="2000" dirty="0"/>
              <a:t>Ensure secure, zero-trust architecture</a:t>
            </a:r>
            <a:endParaRPr lang="en-US" sz="2000" dirty="0"/>
          </a:p>
        </p:txBody>
      </p:sp>
      <p:pic>
        <p:nvPicPr>
          <p:cNvPr id="4" name="image2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04470"/>
            <a:ext cx="1447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3F7D1-F70D-66AC-3DF9-1F92C325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08FCAFD-9E15-22A8-9918-F484EC11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290" y="706538"/>
            <a:ext cx="7239000" cy="609332"/>
          </a:xfrm>
        </p:spPr>
        <p:txBody>
          <a:bodyPr>
            <a:noAutofit/>
          </a:bodyPr>
          <a:lstStyle/>
          <a:p>
            <a:r>
              <a:rPr lang="en-US" sz="3300" b="1" dirty="0">
                <a:cs typeface="Times New Roman" panose="02020603050405020304" pitchFamily="18" charset="0"/>
                <a:sym typeface="+mn-ea"/>
              </a:rPr>
              <a:t>Methodology</a:t>
            </a:r>
            <a:endParaRPr lang="en-US" sz="3300" dirty="0"/>
          </a:p>
        </p:txBody>
      </p:sp>
      <p:pic>
        <p:nvPicPr>
          <p:cNvPr id="4" name="image2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38259"/>
            <a:ext cx="19050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C6EB8-2313-EF0F-1E01-C7D0E594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2420"/>
            <a:ext cx="8198734" cy="5477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Research &amp; Analysis</a:t>
            </a:r>
            <a:endParaRPr lang="en-IN" sz="2000" dirty="0"/>
          </a:p>
          <a:p>
            <a:r>
              <a:rPr lang="en-IN" sz="2000" dirty="0"/>
              <a:t>Studied existing tools (VS Code Live Share, </a:t>
            </a:r>
            <a:r>
              <a:rPr lang="en-IN" sz="2000" dirty="0" err="1"/>
              <a:t>Replit</a:t>
            </a:r>
            <a:r>
              <a:rPr lang="en-IN" sz="2000" dirty="0"/>
              <a:t>, </a:t>
            </a:r>
            <a:r>
              <a:rPr lang="en-IN" sz="2000" dirty="0" err="1"/>
              <a:t>CodeSandbox</a:t>
            </a:r>
            <a:r>
              <a:rPr lang="en-IN" sz="2000" dirty="0"/>
              <a:t>) </a:t>
            </a:r>
          </a:p>
          <a:p>
            <a:r>
              <a:rPr lang="en-IN" sz="2000" dirty="0"/>
              <a:t>Identified gaps in AI integration &amp; unified workspace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Architecture Design</a:t>
            </a:r>
            <a:endParaRPr lang="en-IN" sz="2000" dirty="0"/>
          </a:p>
          <a:p>
            <a:r>
              <a:rPr lang="en-IN" sz="2000" dirty="0"/>
              <a:t>Event-driven, serverless architecture </a:t>
            </a:r>
          </a:p>
          <a:p>
            <a:r>
              <a:rPr lang="en-IN" sz="2000" dirty="0"/>
              <a:t>CRDT-based real-time synchronization </a:t>
            </a:r>
          </a:p>
          <a:p>
            <a:r>
              <a:rPr lang="en-IN" sz="2000" dirty="0" err="1"/>
              <a:t>Liveblocks</a:t>
            </a:r>
            <a:r>
              <a:rPr lang="en-IN" sz="2000" dirty="0"/>
              <a:t> for data transport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Frontend Development</a:t>
            </a:r>
            <a:endParaRPr lang="en-IN" sz="2000" dirty="0"/>
          </a:p>
          <a:p>
            <a:r>
              <a:rPr lang="en-IN" sz="2000" dirty="0"/>
              <a:t>Built SPA using React + Vite </a:t>
            </a:r>
          </a:p>
          <a:p>
            <a:r>
              <a:rPr lang="en-IN" sz="2000" dirty="0"/>
              <a:t>Integrated editor, Kanban, chat, whiteboard, terminal </a:t>
            </a:r>
          </a:p>
          <a:p>
            <a:r>
              <a:rPr lang="en-IN" sz="2000" dirty="0"/>
              <a:t>Styled with Tailwind CSS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183244-C56A-230D-8F95-A4A1CAF3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5</a:t>
            </a:fld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27AD9FF6-7CC7-8E2E-738B-051DDEDE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423C-0BA4-82F1-4F10-26FEF400F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91C8-CB94-D789-251C-A285F6B0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90" y="706538"/>
            <a:ext cx="7239000" cy="609332"/>
          </a:xfrm>
        </p:spPr>
        <p:txBody>
          <a:bodyPr>
            <a:noAutofit/>
          </a:bodyPr>
          <a:lstStyle/>
          <a:p>
            <a:r>
              <a:rPr lang="en-US" sz="3300" b="1" dirty="0">
                <a:cs typeface="Times New Roman" panose="02020603050405020304" pitchFamily="18" charset="0"/>
                <a:sym typeface="+mn-ea"/>
              </a:rPr>
              <a:t>Methodology</a:t>
            </a:r>
            <a:endParaRPr lang="en-US" sz="33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705AF4CC-F7C5-045E-6CEB-76684AFB8D1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38259"/>
            <a:ext cx="19050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F77529-E1D1-F906-3B45-D05C26EF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61003"/>
            <a:ext cx="8198734" cy="5477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Backend &amp; Database</a:t>
            </a:r>
            <a:endParaRPr lang="en-IN" sz="2000" dirty="0"/>
          </a:p>
          <a:p>
            <a:r>
              <a:rPr lang="en-IN" sz="2000" dirty="0" err="1"/>
              <a:t>Supabase</a:t>
            </a:r>
            <a:r>
              <a:rPr lang="en-IN" sz="2000" dirty="0"/>
              <a:t> (PostgreSQL, Auth, Realtime APIs) </a:t>
            </a:r>
          </a:p>
          <a:p>
            <a:r>
              <a:rPr lang="en-IN" sz="2000" dirty="0"/>
              <a:t>Implemented Row Level Security (RLS)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AI Integration</a:t>
            </a:r>
            <a:endParaRPr lang="en-IN" sz="2000" dirty="0"/>
          </a:p>
          <a:p>
            <a:r>
              <a:rPr lang="en-IN" sz="2000" dirty="0"/>
              <a:t>Integrated </a:t>
            </a:r>
            <a:r>
              <a:rPr lang="en-IN" sz="2000" dirty="0" err="1"/>
              <a:t>HuggingFace</a:t>
            </a:r>
            <a:r>
              <a:rPr lang="en-IN" sz="2000" dirty="0"/>
              <a:t> / Together AI (Qwen model) </a:t>
            </a:r>
          </a:p>
          <a:p>
            <a:r>
              <a:rPr lang="en-IN" sz="2000" dirty="0"/>
              <a:t>Designed structured prompts for automation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Testing &amp; Deployment</a:t>
            </a:r>
            <a:endParaRPr lang="en-IN" sz="2000" dirty="0"/>
          </a:p>
          <a:p>
            <a:r>
              <a:rPr lang="en-IN" sz="2000" dirty="0"/>
              <a:t>Tested real-time edits &amp; security policies </a:t>
            </a:r>
          </a:p>
          <a:p>
            <a:r>
              <a:rPr lang="en-IN" sz="2000" dirty="0"/>
              <a:t>Deployed via </a:t>
            </a:r>
            <a:r>
              <a:rPr lang="en-IN" sz="2000" dirty="0" err="1"/>
              <a:t>Vercel</a:t>
            </a:r>
            <a:r>
              <a:rPr lang="en-IN" sz="2000" dirty="0"/>
              <a:t> with CI/CD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BF9C3F-3895-B51D-5437-AAD0C988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6</a:t>
            </a:fld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695EF1C3-1D1D-848B-1DAA-958C1842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4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DC682-A60C-4AAC-48AD-1CE320A7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8361-B2D2-C074-B47D-B49EF53C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90" y="706538"/>
            <a:ext cx="7239000" cy="609332"/>
          </a:xfrm>
        </p:spPr>
        <p:txBody>
          <a:bodyPr>
            <a:noAutofit/>
          </a:bodyPr>
          <a:lstStyle/>
          <a:p>
            <a:r>
              <a:rPr lang="en-US" sz="3300" b="1" dirty="0">
                <a:cs typeface="Times New Roman" panose="02020603050405020304" pitchFamily="18" charset="0"/>
                <a:sym typeface="+mn-ea"/>
              </a:rPr>
              <a:t>Technology Stack</a:t>
            </a:r>
            <a:endParaRPr lang="en-US" sz="33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D5C6B944-DBA0-B80B-B462-0F0CE3B0B4F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38259"/>
            <a:ext cx="19050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A4173-EC8E-0033-831C-8F8DC32FF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33" y="1315870"/>
            <a:ext cx="8198734" cy="5477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Frontend</a:t>
            </a:r>
            <a:endParaRPr lang="en-IN" sz="2000" dirty="0"/>
          </a:p>
          <a:p>
            <a:r>
              <a:rPr lang="en-IN" sz="2000" dirty="0"/>
              <a:t>React + Vite </a:t>
            </a:r>
          </a:p>
          <a:p>
            <a:r>
              <a:rPr lang="en-IN" sz="2000" dirty="0"/>
              <a:t>Tailwind CSS </a:t>
            </a:r>
          </a:p>
          <a:p>
            <a:r>
              <a:rPr lang="en-IN" sz="2000" dirty="0"/>
              <a:t>React Router </a:t>
            </a:r>
          </a:p>
          <a:p>
            <a:r>
              <a:rPr lang="en-IN" sz="2000" dirty="0" err="1"/>
              <a:t>Lucide</a:t>
            </a:r>
            <a:r>
              <a:rPr lang="en-IN" sz="2000" dirty="0"/>
              <a:t> Icons </a:t>
            </a:r>
          </a:p>
          <a:p>
            <a:pPr marL="0" indent="0">
              <a:buNone/>
            </a:pPr>
            <a:r>
              <a:rPr lang="en-IN" sz="2000" b="1" dirty="0"/>
              <a:t>Code Editor</a:t>
            </a:r>
            <a:endParaRPr lang="en-IN" sz="2000" dirty="0"/>
          </a:p>
          <a:p>
            <a:r>
              <a:rPr lang="en-IN" sz="2000" dirty="0"/>
              <a:t>Monaco Editor / </a:t>
            </a:r>
            <a:r>
              <a:rPr lang="en-IN" sz="2000" dirty="0" err="1"/>
              <a:t>CodeMirror</a:t>
            </a:r>
            <a:r>
              <a:rPr lang="en-IN" sz="2000" dirty="0"/>
              <a:t> </a:t>
            </a:r>
          </a:p>
          <a:p>
            <a:r>
              <a:rPr lang="en-IN" sz="2000" dirty="0" err="1"/>
              <a:t>Yjs</a:t>
            </a:r>
            <a:r>
              <a:rPr lang="en-IN" sz="2000" dirty="0"/>
              <a:t> bindings (y-</a:t>
            </a:r>
            <a:r>
              <a:rPr lang="en-IN" sz="2000" dirty="0" err="1"/>
              <a:t>monaco</a:t>
            </a:r>
            <a:r>
              <a:rPr lang="en-IN" sz="2000" dirty="0"/>
              <a:t>, y-</a:t>
            </a:r>
            <a:r>
              <a:rPr lang="en-IN" sz="2000" dirty="0" err="1"/>
              <a:t>codemirror</a:t>
            </a:r>
            <a:r>
              <a:rPr lang="en-IN" sz="2000" dirty="0"/>
              <a:t>) </a:t>
            </a:r>
          </a:p>
          <a:p>
            <a:r>
              <a:rPr lang="en-IN" sz="2000" dirty="0"/>
              <a:t>Syntax highlighting </a:t>
            </a:r>
          </a:p>
          <a:p>
            <a:pPr marL="0" indent="0">
              <a:buNone/>
            </a:pPr>
            <a:r>
              <a:rPr lang="en-IN" sz="2000" b="1" dirty="0"/>
              <a:t>Real-Time Sync</a:t>
            </a:r>
            <a:endParaRPr lang="en-IN" sz="2000" dirty="0"/>
          </a:p>
          <a:p>
            <a:r>
              <a:rPr lang="en-IN" sz="2000" dirty="0" err="1"/>
              <a:t>Liveblocks</a:t>
            </a:r>
            <a:r>
              <a:rPr lang="en-IN" sz="2000" dirty="0"/>
              <a:t> SDK </a:t>
            </a:r>
          </a:p>
          <a:p>
            <a:r>
              <a:rPr lang="en-IN" sz="2000" dirty="0" err="1"/>
              <a:t>Yjs</a:t>
            </a:r>
            <a:r>
              <a:rPr lang="en-IN" sz="2000" dirty="0"/>
              <a:t> (CRDTs) </a:t>
            </a:r>
          </a:p>
          <a:p>
            <a:r>
              <a:rPr lang="en-IN" sz="2000" dirty="0" err="1"/>
              <a:t>WebSockets</a:t>
            </a:r>
            <a:r>
              <a:rPr lang="en-IN" sz="2000" dirty="0"/>
              <a:t> </a:t>
            </a:r>
          </a:p>
          <a:p>
            <a:r>
              <a:rPr lang="en-IN" sz="2000" dirty="0"/>
              <a:t>Live cursors &amp; presence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2ADF73-7A36-880B-38E3-1C9914F4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7</a:t>
            </a:fld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6393B263-D652-CFA0-D0C8-9F6A4B48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6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1F61-DDB3-7D1C-852C-3ED366F9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97DD-6DC8-9E88-F7F9-E6E9D2DC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90" y="706538"/>
            <a:ext cx="7239000" cy="609332"/>
          </a:xfrm>
        </p:spPr>
        <p:txBody>
          <a:bodyPr>
            <a:noAutofit/>
          </a:bodyPr>
          <a:lstStyle/>
          <a:p>
            <a:r>
              <a:rPr lang="en-US" sz="3300" b="1" dirty="0">
                <a:cs typeface="Times New Roman" panose="02020603050405020304" pitchFamily="18" charset="0"/>
                <a:sym typeface="+mn-ea"/>
              </a:rPr>
              <a:t>Technology Stack</a:t>
            </a:r>
            <a:endParaRPr lang="en-US" sz="33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5A2949DC-E55C-02EC-DB8B-673AAB8EF7E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38259"/>
            <a:ext cx="19050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A0AD5-B973-E699-6A9E-BC300D5A6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368445"/>
            <a:ext cx="8198734" cy="54779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Backend</a:t>
            </a:r>
            <a:endParaRPr lang="en-IN" sz="2000" dirty="0"/>
          </a:p>
          <a:p>
            <a:r>
              <a:rPr lang="en-IN" sz="2000" dirty="0" err="1"/>
              <a:t>Supabase</a:t>
            </a:r>
            <a:r>
              <a:rPr lang="en-IN" sz="2000" dirty="0"/>
              <a:t> (PostgreSQL) </a:t>
            </a:r>
          </a:p>
          <a:p>
            <a:r>
              <a:rPr lang="en-IN" sz="2000" dirty="0"/>
              <a:t>Auth (JWT) </a:t>
            </a:r>
          </a:p>
          <a:p>
            <a:r>
              <a:rPr lang="en-IN" sz="2000" dirty="0"/>
              <a:t>Row Level Security </a:t>
            </a:r>
          </a:p>
          <a:p>
            <a:r>
              <a:rPr lang="en-IN" sz="2000" dirty="0"/>
              <a:t>Realtime subscriptions </a:t>
            </a:r>
          </a:p>
          <a:p>
            <a:pPr marL="0" indent="0">
              <a:buNone/>
            </a:pPr>
            <a:r>
              <a:rPr lang="en-IN" sz="2000" b="1" dirty="0"/>
              <a:t>Server</a:t>
            </a:r>
            <a:endParaRPr lang="en-IN" sz="2000" dirty="0"/>
          </a:p>
          <a:p>
            <a:r>
              <a:rPr lang="en-IN" sz="2000" dirty="0"/>
              <a:t>Node.js + Express </a:t>
            </a:r>
          </a:p>
          <a:p>
            <a:r>
              <a:rPr lang="en-IN" sz="2000" dirty="0" err="1"/>
              <a:t>WebSockets</a:t>
            </a:r>
            <a:r>
              <a:rPr lang="en-IN" sz="2000" dirty="0"/>
              <a:t> (</a:t>
            </a:r>
            <a:r>
              <a:rPr lang="en-IN" sz="2000" dirty="0" err="1"/>
              <a:t>ws</a:t>
            </a:r>
            <a:r>
              <a:rPr lang="en-IN" sz="2000" dirty="0"/>
              <a:t>) </a:t>
            </a:r>
          </a:p>
          <a:p>
            <a:r>
              <a:rPr lang="en-IN" sz="2000" dirty="0"/>
              <a:t>xterm.js terminal </a:t>
            </a:r>
          </a:p>
          <a:p>
            <a:r>
              <a:rPr lang="en-IN" sz="2000" dirty="0"/>
              <a:t>node-</a:t>
            </a:r>
            <a:r>
              <a:rPr lang="en-IN" sz="2000" dirty="0" err="1"/>
              <a:t>pty</a:t>
            </a:r>
            <a:r>
              <a:rPr lang="en-IN" sz="2000" dirty="0"/>
              <a:t> integration </a:t>
            </a:r>
          </a:p>
          <a:p>
            <a:pPr marL="0" indent="0">
              <a:buNone/>
            </a:pPr>
            <a:r>
              <a:rPr lang="en-IN" sz="2000" b="1" dirty="0"/>
              <a:t>AI Engine</a:t>
            </a:r>
            <a:endParaRPr lang="en-IN" sz="2000" dirty="0"/>
          </a:p>
          <a:p>
            <a:r>
              <a:rPr lang="en-IN" sz="2000" dirty="0" err="1"/>
              <a:t>HuggingFace</a:t>
            </a:r>
            <a:r>
              <a:rPr lang="en-IN" sz="2000" dirty="0"/>
              <a:t> API </a:t>
            </a:r>
          </a:p>
          <a:p>
            <a:r>
              <a:rPr lang="en-IN" sz="2000" dirty="0"/>
              <a:t>Qwen 2.5 model </a:t>
            </a:r>
          </a:p>
          <a:p>
            <a:r>
              <a:rPr lang="en-IN" sz="2000" dirty="0"/>
              <a:t>Together AI Router </a:t>
            </a:r>
          </a:p>
          <a:p>
            <a:r>
              <a:rPr lang="en-IN" sz="2000" dirty="0"/>
              <a:t>Context-aware prompts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0F8499-5DE5-68C2-6EA6-E696D965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8</a:t>
            </a:fld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47666C2C-1303-B48A-B9FA-D915EE65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95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37833"/>
            <a:ext cx="6553200" cy="553135"/>
          </a:xfrm>
        </p:spPr>
        <p:txBody>
          <a:bodyPr>
            <a:noAutofit/>
          </a:bodyPr>
          <a:lstStyle/>
          <a:p>
            <a:r>
              <a:rPr lang="en-US" sz="3300" b="1" dirty="0">
                <a:sym typeface="+mn-ea"/>
              </a:rPr>
              <a:t>System Architecture</a:t>
            </a:r>
            <a:endParaRPr lang="en-US" sz="33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C4AD52-46FC-78D9-5DE6-B29FF9527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43" y="1524000"/>
            <a:ext cx="4525963" cy="4525963"/>
          </a:xfrm>
          <a:prstGeom prst="rect">
            <a:avLst/>
          </a:prstGeom>
        </p:spPr>
      </p:pic>
      <p:pic>
        <p:nvPicPr>
          <p:cNvPr id="4" name="image2.jpe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05069"/>
            <a:ext cx="17526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E486D-DF66-9459-DFCE-3E317AD7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9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80723E97-8CAC-555A-CF32-99A0B9FE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A3CD-B508-D1A9-F79D-629A7F81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B877-D074-9E62-8225-E640DDA6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37833"/>
            <a:ext cx="6553200" cy="553135"/>
          </a:xfrm>
        </p:spPr>
        <p:txBody>
          <a:bodyPr>
            <a:noAutofit/>
          </a:bodyPr>
          <a:lstStyle/>
          <a:p>
            <a:r>
              <a:rPr lang="en-US" sz="3300" b="1" dirty="0">
                <a:sym typeface="+mn-ea"/>
              </a:rPr>
              <a:t>Use case diagram</a:t>
            </a:r>
            <a:endParaRPr lang="en-US" sz="33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BB602C31-D38D-98FE-37E5-411D8E7934D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7526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6FC2-8170-CE55-EEFB-CB51163B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10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E74B3B80-EAC1-2B41-2504-F51DA49C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4CD581B-CD68-ACEE-3D5B-832F613E4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30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CCCD-2EE4-A355-1DD8-9D8D33AA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C61E-45C4-CC72-8A07-BA49D2139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37833"/>
            <a:ext cx="6553200" cy="553135"/>
          </a:xfrm>
        </p:spPr>
        <p:txBody>
          <a:bodyPr>
            <a:noAutofit/>
          </a:bodyPr>
          <a:lstStyle/>
          <a:p>
            <a:r>
              <a:rPr lang="en-US" sz="3300" b="1" dirty="0">
                <a:sym typeface="+mn-ea"/>
              </a:rPr>
              <a:t>Class diagram</a:t>
            </a:r>
            <a:endParaRPr lang="en-US" sz="33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675A2967-2E38-BFED-EA76-437BBD0E818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7526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6DBC7-AAFA-981E-E4AA-A2E57D89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11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B08F332C-D240-A5D7-3297-D1D3EEC6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DB4B3E-A108-CAB1-7DE4-549180E35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10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78A4-878C-D41A-F1FC-096C325E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9B7-9195-7026-DC2F-6CA3E1B87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6553200" cy="55313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Modules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EF2C5-336A-2C3C-4B5A-163482A6A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4086"/>
            <a:ext cx="815339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Collaborative Code Editor</a:t>
            </a:r>
            <a:endParaRPr lang="en-IN" sz="2000" dirty="0"/>
          </a:p>
          <a:p>
            <a:r>
              <a:rPr lang="en-IN" sz="2000" dirty="0"/>
              <a:t>Real-time code editing (CRDT-based) </a:t>
            </a:r>
          </a:p>
          <a:p>
            <a:r>
              <a:rPr lang="en-IN" sz="2000" dirty="0"/>
              <a:t>Live cursors &amp; presence </a:t>
            </a:r>
          </a:p>
          <a:p>
            <a:r>
              <a:rPr lang="en-IN" sz="2000" dirty="0"/>
              <a:t>Multi-language support </a:t>
            </a:r>
          </a:p>
          <a:p>
            <a:pPr marL="0" indent="0">
              <a:buNone/>
            </a:pPr>
            <a:r>
              <a:rPr lang="en-IN" sz="2000" b="1" dirty="0"/>
              <a:t>Kanban Task Board</a:t>
            </a:r>
            <a:endParaRPr lang="en-IN" sz="2000" dirty="0"/>
          </a:p>
          <a:p>
            <a:r>
              <a:rPr lang="en-IN" sz="2000" dirty="0"/>
              <a:t>Drag-and-drop task management </a:t>
            </a:r>
          </a:p>
          <a:p>
            <a:r>
              <a:rPr lang="en-IN" sz="2000" dirty="0"/>
              <a:t>Workflow stages (To-Do → Done) </a:t>
            </a:r>
          </a:p>
          <a:p>
            <a:r>
              <a:rPr lang="en-IN" sz="2000" dirty="0"/>
              <a:t>Task prioritization &amp; assignment </a:t>
            </a:r>
          </a:p>
          <a:p>
            <a:pPr marL="0" indent="0">
              <a:buNone/>
            </a:pPr>
            <a:r>
              <a:rPr lang="en-IN" sz="2000" b="1" dirty="0"/>
              <a:t>Infinite Whiteboard</a:t>
            </a:r>
            <a:endParaRPr lang="en-IN" sz="2000" dirty="0"/>
          </a:p>
          <a:p>
            <a:r>
              <a:rPr lang="en-IN" sz="2000" dirty="0"/>
              <a:t>Freehand collaborative drawing </a:t>
            </a:r>
          </a:p>
          <a:p>
            <a:r>
              <a:rPr lang="en-IN" sz="2000" dirty="0"/>
              <a:t>Real-time shared canvas </a:t>
            </a:r>
          </a:p>
          <a:p>
            <a:r>
              <a:rPr lang="en-IN" sz="2000" dirty="0"/>
              <a:t>Design &amp; planning support</a:t>
            </a:r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A6E9FA50-A921-A737-8D6F-E24D9833681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7526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E432-4D99-A80F-C749-B70E03AD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12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272B597B-4797-B5E1-6FCD-1E5291A2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357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4D40C-38F7-F20F-8A3C-0A270F28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9461-ECC3-85B0-D09C-0772AE4BC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6553200" cy="55313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Modules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EBB2-0352-DA28-70BE-D29555F4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4086"/>
            <a:ext cx="815339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Real-Time Chat</a:t>
            </a:r>
            <a:endParaRPr lang="en-IN" sz="2000" dirty="0"/>
          </a:p>
          <a:p>
            <a:r>
              <a:rPr lang="en-IN" sz="2000" dirty="0"/>
              <a:t>Instant workspace messaging </a:t>
            </a:r>
          </a:p>
          <a:p>
            <a:r>
              <a:rPr lang="en-IN" sz="2000" dirty="0"/>
              <a:t>Live sync with </a:t>
            </a:r>
            <a:r>
              <a:rPr lang="en-IN" sz="2000" dirty="0" err="1"/>
              <a:t>realtime</a:t>
            </a:r>
            <a:r>
              <a:rPr lang="en-IN" sz="2000" dirty="0"/>
              <a:t> backend </a:t>
            </a:r>
          </a:p>
          <a:p>
            <a:r>
              <a:rPr lang="en-IN" sz="2000" dirty="0"/>
              <a:t>User avatars &amp; presence </a:t>
            </a:r>
          </a:p>
          <a:p>
            <a:pPr marL="0" indent="0">
              <a:buNone/>
            </a:pPr>
            <a:r>
              <a:rPr lang="en-IN" sz="2000" b="1" dirty="0"/>
              <a:t>AI Pulse Assistant</a:t>
            </a:r>
            <a:endParaRPr lang="en-IN" sz="2000" dirty="0"/>
          </a:p>
          <a:p>
            <a:r>
              <a:rPr lang="en-IN" sz="2000" dirty="0"/>
              <a:t>Context-aware AI coding assistant </a:t>
            </a:r>
          </a:p>
          <a:p>
            <a:r>
              <a:rPr lang="en-IN" sz="2000" dirty="0"/>
              <a:t>Reads project &amp; modifies code </a:t>
            </a:r>
          </a:p>
          <a:p>
            <a:r>
              <a:rPr lang="en-IN" sz="2000" dirty="0"/>
              <a:t>Integrated Qwen model </a:t>
            </a:r>
          </a:p>
          <a:p>
            <a:pPr marL="0" indent="0">
              <a:buNone/>
            </a:pPr>
            <a:r>
              <a:rPr lang="en-IN" sz="2000" b="1" dirty="0"/>
              <a:t>Shared Terminal</a:t>
            </a:r>
            <a:endParaRPr lang="en-IN" sz="2000" dirty="0"/>
          </a:p>
          <a:p>
            <a:r>
              <a:rPr lang="en-IN" sz="2000" dirty="0"/>
              <a:t>Browser-based terminal </a:t>
            </a:r>
          </a:p>
          <a:p>
            <a:r>
              <a:rPr lang="en-IN" sz="2000" dirty="0"/>
              <a:t>Shared execution environment </a:t>
            </a:r>
          </a:p>
          <a:p>
            <a:r>
              <a:rPr lang="en-IN" sz="2000" dirty="0"/>
              <a:t>WebSocket-powered sessions</a:t>
            </a:r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48CC2330-92C9-83D2-CBBF-9217692126C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752600" cy="60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63FFE-DF40-0548-B02A-6FD903EE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13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0B3E8C75-D568-3AFC-98CF-260C896E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29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B720-6177-0266-F2AB-031B1805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AE01-4CC9-601F-10C9-D190E047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Application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3E3F4070-A263-AA27-AD9C-5449B26E32F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B97AA-7E34-172F-6694-F0E82D76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9BC04F9D-7782-0B30-C79B-8939EA94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5FA64-04EB-FA1C-36D7-64E35B9AF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4821"/>
            <a:ext cx="9144000" cy="525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2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7127-2090-98A0-CDB1-CA0BEB6E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FA8B-2688-7A0F-62ED-18CA0CD3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Application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4FF2C7E0-0EC2-27C0-2710-DFCB523C668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8A5F3-08C3-A09C-B0E6-39556B8D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DF494E7-F35B-260D-792F-6972083C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7D160-3E14-405F-E12D-07BD4F72C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0" y="1075677"/>
            <a:ext cx="9144000" cy="52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49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9E14-1387-4BCA-476E-44726035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C729-E10C-7D77-B959-0FB54D5EB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Application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340BEE3D-1BAC-4AA0-DDAE-31EC86603F5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24EC3-72A3-7829-CA8B-C0C53D24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16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EA157A87-67A5-28B0-F4B3-AE76C5D4A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CFD14-6CA2-F207-4C13-33D8AFC0A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3242"/>
            <a:ext cx="9144000" cy="52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53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E73B-E3ED-991E-A402-E4AAC870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C78A-9C31-120D-AE93-A17B6766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Application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B796A778-6486-CB71-858C-973FC63EDBE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BCED-6074-50CA-3ADD-78A92DA3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17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D9925633-2F8A-F4A1-392E-CC58D09C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6CC34-FD50-36E0-3D60-940EC5AE0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677"/>
            <a:ext cx="9144000" cy="527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96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A7F7-CC59-8410-2DF3-DC92C139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C779-F268-7CC1-F83C-B354FC39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Feature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33E415DA-0D11-3160-68DE-AA3E605921B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BF98-1520-ED6C-3242-B3A768EC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18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7ED1A833-653F-FC7B-00DA-14453721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FD592-C94D-3B07-CF03-175856E92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2096"/>
            <a:ext cx="9144000" cy="52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46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3CD02-3FC4-23E8-1416-BC2121ED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BB96-A2D4-8F55-E3B3-8BD4CDCC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Feature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1E742BE0-C7A2-17AA-70FD-E2ADF26C611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17F2B-B98D-58D3-956D-AB702890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19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FF5D25A9-37CC-C648-2A8B-7951F0C8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0C4D2-D52C-EE66-4277-E748B68F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677"/>
            <a:ext cx="9144000" cy="525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61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47B4-DE48-6D53-99CD-6E175E10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C88E-5D66-02C9-3A5D-E4EDB3CD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Feature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5DB37059-D4DB-623B-D69A-C1EDE8E6546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25E8C-3DAE-38EB-89BD-A0E25550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20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93C106ED-B702-E100-3385-0F0ED508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E7E54-75C2-0B70-C2A1-D4D816546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" y="1110788"/>
            <a:ext cx="9144000" cy="524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71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EE1B0-2030-E7A3-99F7-F8D95C81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8F27-6CCC-3AD2-01F2-7386F0EC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Feature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B632209F-9ACD-8663-6143-1F148071799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93CC4-09BE-9FC0-A162-3FD8E5F2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21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00044ACC-9770-7AE0-B65E-D852CCD6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9CC87-F045-DC4B-74D0-7B4B862B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677"/>
            <a:ext cx="9144000" cy="52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9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12008-2D75-2FEF-269A-EC764466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EF89-2E8C-DFDA-1090-E12A61D9F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27"/>
            <a:ext cx="8229600" cy="869950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Feature Screenshots</a:t>
            </a:r>
            <a:endParaRPr lang="en-US" sz="3200" dirty="0"/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C4B9C934-3E1E-007A-547B-0C48833D566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152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EBF2A-4EAC-6090-95C3-DA410587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22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4EF262-8400-5AAF-606F-AAC3C6A7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C5860-E609-F5EF-FACD-5394221D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7852"/>
            <a:ext cx="9144000" cy="527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49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63817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Project Timeline &amp; Milestones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71" y="1371600"/>
            <a:ext cx="7778750" cy="5092700"/>
          </a:xfrm>
        </p:spPr>
        <p:txBody>
          <a:bodyPr>
            <a:normAutofit fontScale="95000"/>
          </a:bodyPr>
          <a:lstStyle/>
          <a:p>
            <a:pPr marL="0" indent="0">
              <a:buNone/>
            </a:pPr>
            <a:r>
              <a:rPr lang="en-IN" sz="2000" b="1" dirty="0"/>
              <a:t>Phase 1: Core Collaboration (Jan–Feb 2026)</a:t>
            </a:r>
            <a:endParaRPr lang="en-IN" sz="2000" dirty="0"/>
          </a:p>
          <a:p>
            <a:r>
              <a:rPr lang="en-IN" sz="2000" dirty="0"/>
              <a:t>Real-time code editor (live cursors) </a:t>
            </a:r>
          </a:p>
          <a:p>
            <a:r>
              <a:rPr lang="en-IN" sz="2000" dirty="0"/>
              <a:t>Kanban task board </a:t>
            </a:r>
          </a:p>
          <a:p>
            <a:r>
              <a:rPr lang="en-IN" sz="2000" dirty="0"/>
              <a:t>Real-time chat </a:t>
            </a:r>
          </a:p>
          <a:p>
            <a:r>
              <a:rPr lang="en-IN" sz="2000" dirty="0"/>
              <a:t>Collaborative whiteboard </a:t>
            </a:r>
          </a:p>
          <a:p>
            <a:r>
              <a:rPr lang="en-IN" sz="2000" dirty="0"/>
              <a:t>Project templates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Completed</a:t>
            </a: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r>
              <a:rPr lang="en-IN" sz="2000" b="1" dirty="0"/>
              <a:t>Phase 2: AI &amp; Intelligence (Feb–Mar 2026)</a:t>
            </a:r>
            <a:endParaRPr lang="en-IN" sz="2000" dirty="0"/>
          </a:p>
          <a:p>
            <a:r>
              <a:rPr lang="en-IN" sz="2000" dirty="0"/>
              <a:t>AI autocomplete (</a:t>
            </a:r>
            <a:r>
              <a:rPr lang="en-IN" sz="2000" dirty="0" err="1"/>
              <a:t>HuggingFace</a:t>
            </a:r>
            <a:r>
              <a:rPr lang="en-IN" sz="2000" dirty="0"/>
              <a:t>) </a:t>
            </a:r>
          </a:p>
          <a:p>
            <a:r>
              <a:rPr lang="en-IN" sz="2000" dirty="0"/>
              <a:t>AI coding agent (</a:t>
            </a:r>
            <a:r>
              <a:rPr lang="en-IN" sz="2000" dirty="0" err="1"/>
              <a:t>AIPulse</a:t>
            </a:r>
            <a:r>
              <a:rPr lang="en-IN" sz="2000" dirty="0"/>
              <a:t>) </a:t>
            </a:r>
          </a:p>
          <a:p>
            <a:r>
              <a:rPr lang="en-IN" sz="2000" dirty="0"/>
              <a:t>AI insights dashboard </a:t>
            </a:r>
          </a:p>
          <a:p>
            <a:r>
              <a:rPr lang="en-IN" sz="2000" dirty="0"/>
              <a:t>Context-aware prompts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In Progress</a:t>
            </a:r>
            <a:r>
              <a:rPr lang="en-IN" sz="2000" dirty="0"/>
              <a:t> </a:t>
            </a:r>
          </a:p>
        </p:txBody>
      </p:sp>
      <p:pic>
        <p:nvPicPr>
          <p:cNvPr id="4" name="image2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524000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B81BBF-AE4D-A477-3652-031416B0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C9594EF0-0CD7-F5C8-7E42-754190AC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A9DC-5D95-7BA1-5DC2-A53A0C5F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CBD5-424C-77D3-14B6-5841D5B4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63817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Project Timeline &amp; Milestones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A2952-4F61-9C6A-2AC4-12EC1505F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333"/>
            <a:ext cx="7778750" cy="5092700"/>
          </a:xfrm>
        </p:spPr>
        <p:txBody>
          <a:bodyPr>
            <a:normAutofit fontScale="95000"/>
          </a:bodyPr>
          <a:lstStyle/>
          <a:p>
            <a:pPr marL="0" indent="0">
              <a:buNone/>
            </a:pPr>
            <a:r>
              <a:rPr lang="en-IN" sz="2000" b="1" dirty="0"/>
              <a:t>Phase 3: SaaS &amp; Scale (Mar–Apr 2026)</a:t>
            </a:r>
            <a:endParaRPr lang="en-IN" sz="2000" dirty="0"/>
          </a:p>
          <a:p>
            <a:r>
              <a:rPr lang="en-IN" sz="2000" dirty="0"/>
              <a:t>Pricing tiers (Free / Pro / Team) </a:t>
            </a:r>
          </a:p>
          <a:p>
            <a:r>
              <a:rPr lang="en-IN" sz="2000" dirty="0"/>
              <a:t>Stripe integration </a:t>
            </a:r>
          </a:p>
          <a:p>
            <a:r>
              <a:rPr lang="en-IN" sz="2000" dirty="0"/>
              <a:t>GitHub sync </a:t>
            </a:r>
          </a:p>
          <a:p>
            <a:r>
              <a:rPr lang="en-IN" sz="2000" dirty="0"/>
              <a:t>One-click deployments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Planned</a:t>
            </a:r>
            <a:endParaRPr lang="en-IN" sz="20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82B2EBAB-9011-DC24-2BE2-E3944F8C99D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524000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A38BF4-80FE-3B96-391E-6C25A568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53E1B64-04DC-C54D-0A02-64AC285B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508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8D01A-6AD2-89A3-D754-D674DDC4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8E6D-CC8B-8660-C106-0934731C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63817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Referral Patents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2F93-8DAE-F688-77F7-90ABCA23B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71" y="1371600"/>
            <a:ext cx="7778750" cy="5092700"/>
          </a:xfrm>
        </p:spPr>
        <p:txBody>
          <a:bodyPr>
            <a:normAutofit fontScale="95000"/>
          </a:bodyPr>
          <a:lstStyle/>
          <a:p>
            <a:pPr marL="286385" indent="-285750" algn="just"/>
            <a:r>
              <a:rPr lang="en-US" sz="1800" b="1" dirty="0"/>
              <a:t>EP4506832A1 – </a:t>
            </a:r>
            <a:r>
              <a:rPr lang="en-US" sz="1800" b="1" dirty="0">
                <a:hlinkClick r:id="rId2"/>
              </a:rPr>
              <a:t>“METHOD AND SYSTEM FOR PROVIDING REAL‑TIME ASSISTANCE TO USERS USING GENERATIVE ARTIFICIAL INTELLIGENCE (AI) MODELS”</a:t>
            </a:r>
            <a:endParaRPr lang="en-US" sz="1800" b="1" dirty="0"/>
          </a:p>
          <a:p>
            <a:pPr marL="286385" indent="-285750" algn="just"/>
            <a:endParaRPr lang="en-US" sz="1800" dirty="0"/>
          </a:p>
          <a:p>
            <a:pPr marL="286385" indent="-285750" algn="just"/>
            <a:r>
              <a:rPr lang="en-US" sz="1800" b="1" dirty="0"/>
              <a:t>US11593098B2</a:t>
            </a:r>
            <a:r>
              <a:rPr lang="en-US" sz="1800" dirty="0"/>
              <a:t> – </a:t>
            </a:r>
            <a:r>
              <a:rPr lang="en-US" sz="1800" b="1" dirty="0">
                <a:hlinkClick r:id="rId3"/>
              </a:rPr>
              <a:t>“Synchronization of source code under development in multiple concurrent instances of an integrated development environment”</a:t>
            </a:r>
            <a:endParaRPr lang="en-US" sz="1800" b="1" dirty="0"/>
          </a:p>
          <a:p>
            <a:pPr marL="286385" indent="-285750" algn="just"/>
            <a:endParaRPr lang="en-US" sz="1800" dirty="0"/>
          </a:p>
          <a:p>
            <a:pPr marL="286385" indent="-285750" algn="just"/>
            <a:r>
              <a:rPr lang="en-US" sz="1800" b="1" dirty="0"/>
              <a:t>WO2022015773A1 – </a:t>
            </a:r>
            <a:r>
              <a:rPr lang="en-US" sz="1800" b="1" dirty="0">
                <a:hlinkClick r:id="rId4"/>
              </a:rPr>
              <a:t>“SYNCHRONIZATION OF SOURCE CODE UNDER DEVELOPMENT IN MULTIPLE CONCURRENT INSTANCES OF AN INTEGRATED DEVELOPMENT ENVIRONMENT”</a:t>
            </a:r>
            <a:endParaRPr lang="en-US" sz="1800" b="1" dirty="0"/>
          </a:p>
          <a:p>
            <a:pPr marL="286385" indent="-285750" algn="just"/>
            <a:endParaRPr lang="en-US" sz="1800" b="1" dirty="0"/>
          </a:p>
          <a:p>
            <a:pPr marL="286385" indent="-285750" algn="just"/>
            <a:r>
              <a:rPr lang="en-US" sz="1800" b="1" dirty="0"/>
              <a:t>US12541345B2 – </a:t>
            </a:r>
            <a:r>
              <a:rPr lang="en-US" sz="1800" b="1" dirty="0">
                <a:hlinkClick r:id="rId5"/>
              </a:rPr>
              <a:t>“Dynamic program code analyzer to improve code quality”</a:t>
            </a:r>
            <a:endParaRPr lang="en-US" sz="1800" b="1" dirty="0"/>
          </a:p>
          <a:p>
            <a:pPr marL="286385" indent="-285750" algn="just"/>
            <a:endParaRPr lang="en-US" sz="1800" b="1" dirty="0"/>
          </a:p>
          <a:p>
            <a:pPr marL="286385" indent="-285750" algn="just"/>
            <a:r>
              <a:rPr lang="en-IN" sz="1800" b="1" dirty="0"/>
              <a:t>US20240143288A1 – </a:t>
            </a:r>
            <a:r>
              <a:rPr lang="en-IN" sz="1800" b="1" dirty="0">
                <a:hlinkClick r:id="rId6"/>
              </a:rPr>
              <a:t>“INTELLIGENT CODE EDITOR”</a:t>
            </a:r>
            <a:endParaRPr lang="en-IN" sz="1800" b="1" dirty="0"/>
          </a:p>
          <a:p>
            <a:pPr marL="635" indent="0" algn="just">
              <a:buNone/>
            </a:pPr>
            <a:endParaRPr lang="en-US" sz="1800" b="1" dirty="0"/>
          </a:p>
          <a:p>
            <a:pPr marL="635" indent="0" algn="just">
              <a:buNone/>
            </a:pPr>
            <a:endParaRPr lang="en-US" sz="1800" b="1" dirty="0"/>
          </a:p>
          <a:p>
            <a:pPr marL="635" indent="0" algn="just">
              <a:buNone/>
            </a:pPr>
            <a:endParaRPr lang="en-US" sz="18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57A8A6B9-E78B-FF9E-E0E9-9AC8219955E7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305069"/>
            <a:ext cx="1524000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71E3A-32BD-7950-D3EB-7A8D0262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25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CDA1FB0A-AFDC-5D50-8E42-4C82C110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38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B24F-9013-6DF9-D8EB-F673405B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ED5-745D-BF6B-1E9F-D59C508A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63817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Novelty &amp; Innovation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D3ED9-09AC-52D4-C5FC-798B0FDCE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1506"/>
            <a:ext cx="7778750" cy="5092700"/>
          </a:xfrm>
        </p:spPr>
        <p:txBody>
          <a:bodyPr>
            <a:normAutofit fontScale="95000"/>
          </a:bodyPr>
          <a:lstStyle/>
          <a:p>
            <a:pPr marL="0" indent="0">
              <a:buNone/>
            </a:pPr>
            <a:r>
              <a:rPr lang="en-US" sz="2000" b="1" dirty="0"/>
              <a:t>CRDT-Based Local-First Architecture</a:t>
            </a:r>
            <a:endParaRPr lang="en-US" sz="2000" dirty="0"/>
          </a:p>
          <a:p>
            <a:r>
              <a:rPr lang="en-US" sz="2000" dirty="0"/>
              <a:t>Conflict-free real-time collaboration </a:t>
            </a:r>
          </a:p>
          <a:p>
            <a:r>
              <a:rPr lang="en-US" sz="2000" dirty="0"/>
              <a:t>Works offline with seamless sync </a:t>
            </a:r>
          </a:p>
          <a:p>
            <a:r>
              <a:rPr lang="en-US" sz="2000" dirty="0"/>
              <a:t>No data loss or merge conflicts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In-Context AI Agent</a:t>
            </a:r>
            <a:endParaRPr lang="en-US" sz="2000" dirty="0"/>
          </a:p>
          <a:p>
            <a:r>
              <a:rPr lang="en-US" sz="2000" dirty="0"/>
              <a:t>Reads full workspace context </a:t>
            </a:r>
          </a:p>
          <a:p>
            <a:r>
              <a:rPr lang="en-US" sz="2000" dirty="0"/>
              <a:t>Performs direct code operations </a:t>
            </a:r>
          </a:p>
          <a:p>
            <a:r>
              <a:rPr lang="en-US" sz="2000" dirty="0"/>
              <a:t>Not just suggestions — actionable outputs </a:t>
            </a:r>
          </a:p>
          <a:p>
            <a:pPr marL="635" indent="0" algn="just">
              <a:buNone/>
            </a:pPr>
            <a:endParaRPr lang="en-US" sz="20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0AC361C4-F63E-FF90-C444-5631D62C53A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524000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E8DD7-9D62-FAA0-C473-BB203234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26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8D4B39BF-6A3C-9DD7-DC38-3CCD27A2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4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1C48-8F91-1F43-EDDD-582B02012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F418-11AF-3795-412B-9E96B2DF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63817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Novelty &amp; Innovation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1B3DF-EAD6-7727-630E-4C293ED5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71" y="1371600"/>
            <a:ext cx="7778750" cy="5092700"/>
          </a:xfrm>
        </p:spPr>
        <p:txBody>
          <a:bodyPr>
            <a:normAutofit fontScale="95000"/>
          </a:bodyPr>
          <a:lstStyle/>
          <a:p>
            <a:pPr marL="0" indent="0">
              <a:buNone/>
            </a:pPr>
            <a:r>
              <a:rPr lang="en-US" sz="2000" b="1" dirty="0"/>
              <a:t>Unified Workspace OS</a:t>
            </a:r>
            <a:endParaRPr lang="en-US" sz="2000" dirty="0"/>
          </a:p>
          <a:p>
            <a:r>
              <a:rPr lang="en-US" sz="2000" dirty="0"/>
              <a:t>Replaces multiple dev tools </a:t>
            </a:r>
          </a:p>
          <a:p>
            <a:r>
              <a:rPr lang="en-US" sz="2000" dirty="0"/>
              <a:t>Single integrated environment </a:t>
            </a:r>
          </a:p>
          <a:p>
            <a:r>
              <a:rPr lang="en-US" sz="2000" dirty="0"/>
              <a:t>Eliminates context switching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Zero-Trust Data Security</a:t>
            </a:r>
            <a:endParaRPr lang="en-US" sz="2000" dirty="0"/>
          </a:p>
          <a:p>
            <a:r>
              <a:rPr lang="en-US" sz="2000" dirty="0"/>
              <a:t>Row-Level Security (RLS) </a:t>
            </a:r>
          </a:p>
          <a:p>
            <a:r>
              <a:rPr lang="en-US" sz="2000" dirty="0"/>
              <a:t>Access control at database layer </a:t>
            </a:r>
          </a:p>
          <a:p>
            <a:r>
              <a:rPr lang="en-US" sz="2000" dirty="0"/>
              <a:t>Secure even if frontend is compromised</a:t>
            </a:r>
          </a:p>
          <a:p>
            <a:pPr marL="635" indent="0" algn="just">
              <a:buNone/>
            </a:pPr>
            <a:endParaRPr lang="en-US" sz="20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5644D369-C974-068A-934C-0E8F0A61EDB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524000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65265-2213-2BEE-C22D-317A332A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27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75CEECA3-4255-4D66-72AD-DC10DDD9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34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7F116-A28A-C472-A693-B2C67D45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A1CF-A7A6-2ABC-577E-64F3B713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638175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anose="02020603050405020304" pitchFamily="18" charset="0"/>
                <a:sym typeface="+mn-ea"/>
              </a:rPr>
              <a:t>Real-World Application &amp; Impact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20A57-F24D-ABA6-A1F4-36A09FC76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6018"/>
            <a:ext cx="7778750" cy="5092700"/>
          </a:xfrm>
        </p:spPr>
        <p:txBody>
          <a:bodyPr>
            <a:normAutofit fontScale="95000"/>
          </a:bodyPr>
          <a:lstStyle/>
          <a:p>
            <a:pPr marL="0" indent="0">
              <a:buNone/>
            </a:pPr>
            <a:r>
              <a:rPr lang="en-IN" sz="2000" b="1" dirty="0"/>
              <a:t>Target Market</a:t>
            </a:r>
            <a:endParaRPr lang="en-IN" sz="2000" dirty="0"/>
          </a:p>
          <a:p>
            <a:r>
              <a:rPr lang="en-IN" sz="2000" dirty="0"/>
              <a:t>Remote dev teams (startups, agencies) </a:t>
            </a:r>
          </a:p>
          <a:p>
            <a:r>
              <a:rPr lang="en-IN" sz="2000" dirty="0"/>
              <a:t>Coding bootcamps &amp; CS education </a:t>
            </a:r>
          </a:p>
          <a:p>
            <a:r>
              <a:rPr lang="en-IN" sz="2000" dirty="0"/>
              <a:t>Technical interview platforms </a:t>
            </a:r>
          </a:p>
          <a:p>
            <a:r>
              <a:rPr lang="en-IN" sz="2000" dirty="0"/>
              <a:t>Open-source communities 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Competitive Advantage</a:t>
            </a:r>
            <a:endParaRPr lang="en-IN" sz="2000" dirty="0"/>
          </a:p>
          <a:p>
            <a:r>
              <a:rPr lang="en-IN" sz="2000" dirty="0"/>
              <a:t>Deep AI integration (not add-on) </a:t>
            </a:r>
          </a:p>
          <a:p>
            <a:r>
              <a:rPr lang="en-IN" sz="2000" dirty="0"/>
              <a:t>Full workspace (beyond code editor) </a:t>
            </a:r>
          </a:p>
          <a:p>
            <a:r>
              <a:rPr lang="en-IN" sz="2000" dirty="0"/>
              <a:t>Local-first architecture (offline support) </a:t>
            </a:r>
          </a:p>
          <a:p>
            <a:r>
              <a:rPr lang="en-IN" sz="2000" dirty="0"/>
              <a:t>Cost-effective vs enterprise tools 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FEE83949-C8D0-C49E-07F6-5158EA69A4C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5069"/>
            <a:ext cx="1524000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E03A2-2C3C-0756-F74B-3A723E7F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28</a:t>
            </a:fld>
            <a:endParaRPr lang="en-US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2D7C3A22-A783-DD8F-324E-D29FC0E1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25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59404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E9C80-C75B-4B75-A6C5-E58A18995148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2" descr="SRM Institute of Science and Technology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" y="194080"/>
            <a:ext cx="1907216" cy="64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002FC910-D937-4961-EE53-96D71CC5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76400" y="6546850"/>
            <a:ext cx="4495800" cy="365125"/>
          </a:xfrm>
        </p:spPr>
        <p:txBody>
          <a:bodyPr/>
          <a:lstStyle/>
          <a:p>
            <a:r>
              <a:rPr lang="en-US" dirty="0" err="1"/>
              <a:t>CollabCodeHub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859</Words>
  <Application>Microsoft Office PowerPoint</Application>
  <PresentationFormat>On-screen Show (4:3)</PresentationFormat>
  <Paragraphs>265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CollabCodeHub</vt:lpstr>
      <vt:lpstr> Table of Contents</vt:lpstr>
      <vt:lpstr>Abstract</vt:lpstr>
      <vt:lpstr>Problem Statement &amp; Objectives</vt:lpstr>
      <vt:lpstr>Methodology</vt:lpstr>
      <vt:lpstr>Methodology</vt:lpstr>
      <vt:lpstr>Technology Stack</vt:lpstr>
      <vt:lpstr>Technology Stack</vt:lpstr>
      <vt:lpstr>System Architecture</vt:lpstr>
      <vt:lpstr>Use case diagram</vt:lpstr>
      <vt:lpstr>Class diagram</vt:lpstr>
      <vt:lpstr>Modules</vt:lpstr>
      <vt:lpstr>Modules</vt:lpstr>
      <vt:lpstr>Application Screenshots</vt:lpstr>
      <vt:lpstr>Application Screenshots</vt:lpstr>
      <vt:lpstr>Application Screenshots</vt:lpstr>
      <vt:lpstr>Application Screenshots</vt:lpstr>
      <vt:lpstr>Feature Screenshots</vt:lpstr>
      <vt:lpstr>Feature Screenshots</vt:lpstr>
      <vt:lpstr>Feature Screenshots</vt:lpstr>
      <vt:lpstr>Feature Screenshots</vt:lpstr>
      <vt:lpstr>Feature Screenshots</vt:lpstr>
      <vt:lpstr>Project Timeline &amp; Milestones</vt:lpstr>
      <vt:lpstr>Project Timeline &amp; Milestones</vt:lpstr>
      <vt:lpstr>Referral Patents</vt:lpstr>
      <vt:lpstr>Novelty &amp; Innovation</vt:lpstr>
      <vt:lpstr>Novelty &amp; Innovation</vt:lpstr>
      <vt:lpstr>Real-World Application &amp;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psrinivasubsnl@gmail.com</cp:lastModifiedBy>
  <cp:revision>20</cp:revision>
  <dcterms:created xsi:type="dcterms:W3CDTF">2020-05-13T07:00:00Z</dcterms:created>
  <dcterms:modified xsi:type="dcterms:W3CDTF">2026-03-29T15:29:50Z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1033-11.2.0.10130</vt:lpwstr>
  </property>
</Properties>
</file>